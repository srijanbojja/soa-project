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2"/>
  </p:notesMasterIdLst>
  <p:sldIdLst>
    <p:sldId id="262" r:id="rId3"/>
    <p:sldId id="707" r:id="rId4"/>
    <p:sldId id="257" r:id="rId5"/>
    <p:sldId id="903" r:id="rId6"/>
    <p:sldId id="902" r:id="rId7"/>
    <p:sldId id="258" r:id="rId8"/>
    <p:sldId id="259" r:id="rId9"/>
    <p:sldId id="260" r:id="rId10"/>
    <p:sldId id="90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DC4A69-9CC3-4E8B-AB0A-C92369463E59}" v="39" dt="2026-08-27T08:41:32.4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2" d="100"/>
          <a:sy n="92" d="100"/>
        </p:scale>
        <p:origin x="859" y="8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jan Bojja" userId="9dd9b8128eec74f3" providerId="LiveId" clId="{1FFEEFEF-D932-402B-875C-EA502E1000FD}"/>
    <pc:docChg chg="undo redo custSel addSld delSld modSld">
      <pc:chgData name="Srijan Bojja" userId="9dd9b8128eec74f3" providerId="LiveId" clId="{1FFEEFEF-D932-402B-875C-EA502E1000FD}" dt="2026-08-27T08:42:56.637" v="375" actId="1076"/>
      <pc:docMkLst>
        <pc:docMk/>
      </pc:docMkLst>
      <pc:sldChg chg="addSp modSp mod">
        <pc:chgData name="Srijan Bojja" userId="9dd9b8128eec74f3" providerId="LiveId" clId="{1FFEEFEF-D932-402B-875C-EA502E1000FD}" dt="2026-08-20T06:17:06.363" v="17" actId="12"/>
        <pc:sldMkLst>
          <pc:docMk/>
          <pc:sldMk cId="1843937772" sldId="257"/>
        </pc:sldMkLst>
        <pc:spChg chg="add mod">
          <ac:chgData name="Srijan Bojja" userId="9dd9b8128eec74f3" providerId="LiveId" clId="{1FFEEFEF-D932-402B-875C-EA502E1000FD}" dt="2026-08-20T06:17:06.363" v="17" actId="12"/>
          <ac:spMkLst>
            <pc:docMk/>
            <pc:sldMk cId="1843937772" sldId="257"/>
            <ac:spMk id="2" creationId="{E37B9837-AED8-C8EE-BD0B-FC598521EA5E}"/>
          </ac:spMkLst>
        </pc:spChg>
      </pc:sldChg>
      <pc:sldChg chg="addSp modSp mod">
        <pc:chgData name="Srijan Bojja" userId="9dd9b8128eec74f3" providerId="LiveId" clId="{1FFEEFEF-D932-402B-875C-EA502E1000FD}" dt="2026-08-27T08:35:26.543" v="343" actId="1076"/>
        <pc:sldMkLst>
          <pc:docMk/>
          <pc:sldMk cId="2065876014" sldId="258"/>
        </pc:sldMkLst>
        <pc:spChg chg="add mod">
          <ac:chgData name="Srijan Bojja" userId="9dd9b8128eec74f3" providerId="LiveId" clId="{1FFEEFEF-D932-402B-875C-EA502E1000FD}" dt="2026-08-27T08:35:26.543" v="343" actId="1076"/>
          <ac:spMkLst>
            <pc:docMk/>
            <pc:sldMk cId="2065876014" sldId="258"/>
            <ac:spMk id="2" creationId="{76297B46-7199-D45F-3140-24566992B4B5}"/>
          </ac:spMkLst>
        </pc:spChg>
        <pc:spChg chg="mod">
          <ac:chgData name="Srijan Bojja" userId="9dd9b8128eec74f3" providerId="LiveId" clId="{1FFEEFEF-D932-402B-875C-EA502E1000FD}" dt="2026-08-27T08:11:54.598" v="329" actId="1076"/>
          <ac:spMkLst>
            <pc:docMk/>
            <pc:sldMk cId="2065876014" sldId="258"/>
            <ac:spMk id="5" creationId="{C00062CA-E93E-DFB0-5A22-1412AB9A6752}"/>
          </ac:spMkLst>
        </pc:spChg>
      </pc:sldChg>
      <pc:sldChg chg="addSp modSp mod">
        <pc:chgData name="Srijan Bojja" userId="9dd9b8128eec74f3" providerId="LiveId" clId="{1FFEEFEF-D932-402B-875C-EA502E1000FD}" dt="2026-08-27T08:42:56.637" v="375" actId="1076"/>
        <pc:sldMkLst>
          <pc:docMk/>
          <pc:sldMk cId="3524135319" sldId="259"/>
        </pc:sldMkLst>
        <pc:spChg chg="add mod">
          <ac:chgData name="Srijan Bojja" userId="9dd9b8128eec74f3" providerId="LiveId" clId="{1FFEEFEF-D932-402B-875C-EA502E1000FD}" dt="2026-08-27T08:42:56.637" v="375" actId="1076"/>
          <ac:spMkLst>
            <pc:docMk/>
            <pc:sldMk cId="3524135319" sldId="259"/>
            <ac:spMk id="2" creationId="{29611176-DDED-1515-ED84-3AB34ED34C7F}"/>
          </ac:spMkLst>
        </pc:spChg>
        <pc:spChg chg="mod">
          <ac:chgData name="Srijan Bojja" userId="9dd9b8128eec74f3" providerId="LiveId" clId="{1FFEEFEF-D932-402B-875C-EA502E1000FD}" dt="2026-08-27T08:12:04.356" v="331" actId="1076"/>
          <ac:spMkLst>
            <pc:docMk/>
            <pc:sldMk cId="3524135319" sldId="259"/>
            <ac:spMk id="5" creationId="{D4387226-F29E-0041-5581-4EF07C7198F1}"/>
          </ac:spMkLst>
        </pc:spChg>
      </pc:sldChg>
      <pc:sldChg chg="addSp delSp modSp mod">
        <pc:chgData name="Srijan Bojja" userId="9dd9b8128eec74f3" providerId="LiveId" clId="{1FFEEFEF-D932-402B-875C-EA502E1000FD}" dt="2026-08-20T07:37:44.293" v="103" actId="20577"/>
        <pc:sldMkLst>
          <pc:docMk/>
          <pc:sldMk cId="4118855268" sldId="260"/>
        </pc:sldMkLst>
        <pc:spChg chg="mod">
          <ac:chgData name="Srijan Bojja" userId="9dd9b8128eec74f3" providerId="LiveId" clId="{1FFEEFEF-D932-402B-875C-EA502E1000FD}" dt="2026-08-20T07:36:59.497" v="93" actId="1076"/>
          <ac:spMkLst>
            <pc:docMk/>
            <pc:sldMk cId="4118855268" sldId="260"/>
            <ac:spMk id="5" creationId="{9EF7CE10-08D9-83CF-7508-12575531E1E0}"/>
          </ac:spMkLst>
        </pc:spChg>
        <pc:spChg chg="add mod">
          <ac:chgData name="Srijan Bojja" userId="9dd9b8128eec74f3" providerId="LiveId" clId="{1FFEEFEF-D932-402B-875C-EA502E1000FD}" dt="2026-08-20T07:37:44.293" v="103" actId="20577"/>
          <ac:spMkLst>
            <pc:docMk/>
            <pc:sldMk cId="4118855268" sldId="260"/>
            <ac:spMk id="6" creationId="{E7EFF748-6769-199B-514D-36BCADAE4842}"/>
          </ac:spMkLst>
        </pc:spChg>
      </pc:sldChg>
      <pc:sldChg chg="modSp mod">
        <pc:chgData name="Srijan Bojja" userId="9dd9b8128eec74f3" providerId="LiveId" clId="{1FFEEFEF-D932-402B-875C-EA502E1000FD}" dt="2026-08-27T08:41:40.008" v="374" actId="1076"/>
        <pc:sldMkLst>
          <pc:docMk/>
          <pc:sldMk cId="2247602601" sldId="262"/>
        </pc:sldMkLst>
        <pc:spChg chg="mod">
          <ac:chgData name="Srijan Bojja" userId="9dd9b8128eec74f3" providerId="LiveId" clId="{1FFEEFEF-D932-402B-875C-EA502E1000FD}" dt="2026-08-27T08:41:40.008" v="374" actId="1076"/>
          <ac:spMkLst>
            <pc:docMk/>
            <pc:sldMk cId="2247602601" sldId="262"/>
            <ac:spMk id="14" creationId="{DD4CF64F-3FB6-0CE4-B778-63C5D5A1D343}"/>
          </ac:spMkLst>
        </pc:spChg>
        <pc:spChg chg="mod">
          <ac:chgData name="Srijan Bojja" userId="9dd9b8128eec74f3" providerId="LiveId" clId="{1FFEEFEF-D932-402B-875C-EA502E1000FD}" dt="2026-08-27T07:54:16.505" v="326" actId="20577"/>
          <ac:spMkLst>
            <pc:docMk/>
            <pc:sldMk cId="2247602601" sldId="262"/>
            <ac:spMk id="34" creationId="{C1554CCE-4DF8-89E6-E0F6-3C2A1439C7FA}"/>
          </ac:spMkLst>
        </pc:spChg>
        <pc:graphicFrameChg chg="modGraphic">
          <ac:chgData name="Srijan Bojja" userId="9dd9b8128eec74f3" providerId="LiveId" clId="{1FFEEFEF-D932-402B-875C-EA502E1000FD}" dt="2026-08-26T17:16:50.454" v="299" actId="20577"/>
          <ac:graphicFrameMkLst>
            <pc:docMk/>
            <pc:sldMk cId="2247602601" sldId="262"/>
            <ac:graphicFrameMk id="18" creationId="{BD22BC4D-4857-7D81-7819-37B7BB426420}"/>
          </ac:graphicFrameMkLst>
        </pc:graphicFrameChg>
        <pc:graphicFrameChg chg="modGraphic">
          <ac:chgData name="Srijan Bojja" userId="9dd9b8128eec74f3" providerId="LiveId" clId="{1FFEEFEF-D932-402B-875C-EA502E1000FD}" dt="2026-08-26T17:14:57.503" v="197" actId="20577"/>
          <ac:graphicFrameMkLst>
            <pc:docMk/>
            <pc:sldMk cId="2247602601" sldId="262"/>
            <ac:graphicFrameMk id="30" creationId="{9091FADF-77DB-CB1D-CD72-56C53CF76308}"/>
          </ac:graphicFrameMkLst>
        </pc:graphicFrameChg>
      </pc:sldChg>
      <pc:sldChg chg="delSp modSp mod">
        <pc:chgData name="Srijan Bojja" userId="9dd9b8128eec74f3" providerId="LiveId" clId="{1FFEEFEF-D932-402B-875C-EA502E1000FD}" dt="2026-08-27T07:53:27.287" v="312" actId="20577"/>
        <pc:sldMkLst>
          <pc:docMk/>
          <pc:sldMk cId="2747969496" sldId="707"/>
        </pc:sldMkLst>
        <pc:spChg chg="mod">
          <ac:chgData name="Srijan Bojja" userId="9dd9b8128eec74f3" providerId="LiveId" clId="{1FFEEFEF-D932-402B-875C-EA502E1000FD}" dt="2026-08-27T07:53:27.287" v="312" actId="20577"/>
          <ac:spMkLst>
            <pc:docMk/>
            <pc:sldMk cId="2747969496" sldId="707"/>
            <ac:spMk id="3" creationId="{B6FAE64B-DFA9-4528-D74E-DAEA88C008D5}"/>
          </ac:spMkLst>
        </pc:spChg>
        <pc:spChg chg="del">
          <ac:chgData name="Srijan Bojja" userId="9dd9b8128eec74f3" providerId="LiveId" clId="{1FFEEFEF-D932-402B-875C-EA502E1000FD}" dt="2026-08-27T07:53:17.453" v="300" actId="478"/>
          <ac:spMkLst>
            <pc:docMk/>
            <pc:sldMk cId="2747969496" sldId="707"/>
            <ac:spMk id="4" creationId="{41222DE7-17C6-1B7E-71C0-2347B0AA2C6B}"/>
          </ac:spMkLst>
        </pc:spChg>
      </pc:sldChg>
      <pc:sldChg chg="delSp modSp mod">
        <pc:chgData name="Srijan Bojja" userId="9dd9b8128eec74f3" providerId="LiveId" clId="{1FFEEFEF-D932-402B-875C-EA502E1000FD}" dt="2026-08-27T07:55:07.361" v="328" actId="478"/>
        <pc:sldMkLst>
          <pc:docMk/>
          <pc:sldMk cId="3029277067" sldId="902"/>
        </pc:sldMkLst>
        <pc:spChg chg="del">
          <ac:chgData name="Srijan Bojja" userId="9dd9b8128eec74f3" providerId="LiveId" clId="{1FFEEFEF-D932-402B-875C-EA502E1000FD}" dt="2026-08-27T07:55:06.170" v="327" actId="478"/>
          <ac:spMkLst>
            <pc:docMk/>
            <pc:sldMk cId="3029277067" sldId="902"/>
            <ac:spMk id="8" creationId="{A0FDE360-66C4-26CA-5DB9-8E99C2685BE0}"/>
          </ac:spMkLst>
        </pc:spChg>
        <pc:spChg chg="del">
          <ac:chgData name="Srijan Bojja" userId="9dd9b8128eec74f3" providerId="LiveId" clId="{1FFEEFEF-D932-402B-875C-EA502E1000FD}" dt="2026-08-27T07:55:07.361" v="328" actId="478"/>
          <ac:spMkLst>
            <pc:docMk/>
            <pc:sldMk cId="3029277067" sldId="902"/>
            <ac:spMk id="9" creationId="{0F095753-622E-2BA7-9495-60F9B6E57FDB}"/>
          </ac:spMkLst>
        </pc:spChg>
        <pc:graphicFrameChg chg="mod modGraphic">
          <ac:chgData name="Srijan Bojja" userId="9dd9b8128eec74f3" providerId="LiveId" clId="{1FFEEFEF-D932-402B-875C-EA502E1000FD}" dt="2026-08-20T06:20:51.941" v="58"/>
          <ac:graphicFrameMkLst>
            <pc:docMk/>
            <pc:sldMk cId="3029277067" sldId="902"/>
            <ac:graphicFrameMk id="4" creationId="{AACD11AD-3AF5-B626-2B60-0567E4585BB7}"/>
          </ac:graphicFrameMkLst>
        </pc:graphicFrameChg>
      </pc:sldChg>
      <pc:sldChg chg="addSp modSp mod">
        <pc:chgData name="Srijan Bojja" userId="9dd9b8128eec74f3" providerId="LiveId" clId="{1FFEEFEF-D932-402B-875C-EA502E1000FD}" dt="2026-08-27T08:32:24.108" v="333" actId="113"/>
        <pc:sldMkLst>
          <pc:docMk/>
          <pc:sldMk cId="3917782940" sldId="903"/>
        </pc:sldMkLst>
        <pc:spChg chg="add mod">
          <ac:chgData name="Srijan Bojja" userId="9dd9b8128eec74f3" providerId="LiveId" clId="{1FFEEFEF-D932-402B-875C-EA502E1000FD}" dt="2026-08-27T08:32:24.108" v="333" actId="113"/>
          <ac:spMkLst>
            <pc:docMk/>
            <pc:sldMk cId="3917782940" sldId="903"/>
            <ac:spMk id="2" creationId="{3452012E-820A-2E5C-187E-1968CA31D6D5}"/>
          </ac:spMkLst>
        </pc:spChg>
      </pc:sldChg>
      <pc:sldChg chg="addSp delSp modSp add mod">
        <pc:chgData name="Srijan Bojja" userId="9dd9b8128eec74f3" providerId="LiveId" clId="{1FFEEFEF-D932-402B-875C-EA502E1000FD}" dt="2026-08-20T07:47:40.452" v="118" actId="962"/>
        <pc:sldMkLst>
          <pc:docMk/>
          <pc:sldMk cId="3840011770" sldId="904"/>
        </pc:sldMkLst>
        <pc:spChg chg="mod">
          <ac:chgData name="Srijan Bojja" userId="9dd9b8128eec74f3" providerId="LiveId" clId="{1FFEEFEF-D932-402B-875C-EA502E1000FD}" dt="2026-08-20T07:38:41.081" v="110" actId="113"/>
          <ac:spMkLst>
            <pc:docMk/>
            <pc:sldMk cId="3840011770" sldId="904"/>
            <ac:spMk id="5" creationId="{DBED1BA2-F72A-2715-0991-5CE5E74A4CF4}"/>
          </ac:spMkLst>
        </pc:spChg>
        <pc:picChg chg="add mod">
          <ac:chgData name="Srijan Bojja" userId="9dd9b8128eec74f3" providerId="LiveId" clId="{1FFEEFEF-D932-402B-875C-EA502E1000FD}" dt="2026-08-20T07:47:40.452" v="118" actId="962"/>
          <ac:picMkLst>
            <pc:docMk/>
            <pc:sldMk cId="3840011770" sldId="904"/>
            <ac:picMk id="3" creationId="{4C186624-954B-A0C5-9223-A26A4ED99D5C}"/>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3">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3" qsCatId="3D" csTypeId="urn:microsoft.com/office/officeart/2005/8/colors/colorful1#3"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3">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27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27 August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27 August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27 August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27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27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8/27/2026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27 August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Date&amp; Time</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3627858870"/>
              </p:ext>
            </p:extLst>
          </p:nvPr>
        </p:nvGraphicFramePr>
        <p:xfrm>
          <a:off x="8193271" y="4898509"/>
          <a:ext cx="3702050" cy="106680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Pranav Mahajan – 2420030727</a:t>
                      </a:r>
                    </a:p>
                    <a:p>
                      <a:pPr marL="0" algn="l" defTabSz="914400" rtl="0" eaLnBrk="1" latinLnBrk="0" hangingPunct="1"/>
                      <a:r>
                        <a:rPr lang="en-IN" sz="1600" b="1" kern="1200" dirty="0" err="1">
                          <a:solidFill>
                            <a:schemeClr val="dk1"/>
                          </a:solidFill>
                          <a:latin typeface="Times New Roman" panose="02020603050405020304" pitchFamily="18" charset="0"/>
                          <a:ea typeface="Cambria"/>
                          <a:cs typeface="Times New Roman" panose="02020603050405020304" pitchFamily="18" charset="0"/>
                        </a:rPr>
                        <a:t>B.Srijan</a:t>
                      </a:r>
                      <a:r>
                        <a:rPr lang="en-IN" sz="1600" b="1" kern="1200" dirty="0">
                          <a:solidFill>
                            <a:schemeClr val="dk1"/>
                          </a:solidFill>
                          <a:latin typeface="Times New Roman" panose="02020603050405020304" pitchFamily="18" charset="0"/>
                          <a:ea typeface="Cambria"/>
                          <a:cs typeface="Times New Roman" panose="02020603050405020304" pitchFamily="18" charset="0"/>
                        </a:rPr>
                        <a:t> – 2420030201</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Aditya Ram - 2420030383</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74487371"/>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Dr.Navyatha</a:t>
                      </a: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 Ravi</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27/08/26</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927427"/>
            <a:ext cx="10715625" cy="523220"/>
          </a:xfrm>
          <a:prstGeom prst="rect">
            <a:avLst/>
          </a:prstGeom>
          <a:noFill/>
        </p:spPr>
        <p:txBody>
          <a:bodyPr wrap="square">
            <a:spAutoFit/>
          </a:bodyPr>
          <a:lstStyle/>
          <a:p>
            <a:pPr lvl="0" algn="ctr">
              <a:defRPr/>
            </a:pPr>
            <a:r>
              <a:rPr lang="en-IN" sz="2800" b="1" dirty="0">
                <a:solidFill>
                  <a:schemeClr val="bg1"/>
                </a:solidFill>
                <a:latin typeface="Times New Roman" panose="02020603050405020304" pitchFamily="18" charset="0"/>
                <a:cs typeface="Times New Roman" panose="02020603050405020304" pitchFamily="18" charset="0"/>
              </a:rPr>
              <a:t>DevOps Incident Management System</a:t>
            </a: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27/08/26</a:t>
            </a: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E37B9837-AED8-C8EE-BD0B-FC598521EA5E}"/>
              </a:ext>
            </a:extLst>
          </p:cNvPr>
          <p:cNvSpPr txBox="1"/>
          <p:nvPr/>
        </p:nvSpPr>
        <p:spPr>
          <a:xfrm>
            <a:off x="631596" y="1423447"/>
            <a:ext cx="11133056" cy="4801314"/>
          </a:xfrm>
          <a:prstGeom prst="rect">
            <a:avLst/>
          </a:prstGeom>
          <a:noFill/>
        </p:spPr>
        <p:txBody>
          <a:bodyPr wrap="square" rtlCol="0">
            <a:spAutoFit/>
          </a:bodyPr>
          <a:lstStyle/>
          <a:p>
            <a:pPr marL="285750" indent="-285750">
              <a:buFont typeface="Wingdings" panose="05000000000000000000" pitchFamily="2" charset="2"/>
              <a:buChar char="Ø"/>
            </a:pPr>
            <a:r>
              <a:rPr lang="en-IN" dirty="0"/>
              <a:t>Modern software systems consist of multiple services, applications, databases, and infrastructure components. When failures occur, identifying, assigning, tracking, and resolving incidents becomes difficult if these activities are handled manually or through disconnected tools.</a:t>
            </a:r>
          </a:p>
          <a:p>
            <a:pPr marL="285750" indent="-285750">
              <a:buFont typeface="Wingdings" panose="05000000000000000000" pitchFamily="2" charset="2"/>
              <a:buChar char="Ø"/>
            </a:pPr>
            <a:r>
              <a:rPr lang="en-IN" dirty="0"/>
              <a:t>Traditional incident management approaches may lead to:</a:t>
            </a:r>
          </a:p>
          <a:p>
            <a:pPr marL="742950" lvl="1" indent="-285750">
              <a:buFont typeface="Arial" panose="020B0604020202020204" pitchFamily="34" charset="0"/>
              <a:buChar char="•"/>
            </a:pPr>
            <a:r>
              <a:rPr lang="en-IN" dirty="0"/>
              <a:t>Delayed identification and resolution of incidents. </a:t>
            </a:r>
          </a:p>
          <a:p>
            <a:pPr marL="742950" lvl="1" indent="-285750">
              <a:buFont typeface="Arial" panose="020B0604020202020204" pitchFamily="34" charset="0"/>
              <a:buChar char="•"/>
            </a:pPr>
            <a:r>
              <a:rPr lang="en-IN" dirty="0"/>
              <a:t>Lack of centralized incident tracking. </a:t>
            </a:r>
          </a:p>
          <a:p>
            <a:pPr marL="742950" lvl="1" indent="-285750">
              <a:buFont typeface="Arial" panose="020B0604020202020204" pitchFamily="34" charset="0"/>
              <a:buChar char="•"/>
            </a:pPr>
            <a:r>
              <a:rPr lang="en-IN" dirty="0"/>
              <a:t>Difficulty in assigning incidents to appropriate teams. </a:t>
            </a:r>
          </a:p>
          <a:p>
            <a:pPr marL="742950" lvl="1" indent="-285750">
              <a:buFont typeface="Arial" panose="020B0604020202020204" pitchFamily="34" charset="0"/>
              <a:buChar char="•"/>
            </a:pPr>
            <a:r>
              <a:rPr lang="en-IN" dirty="0"/>
              <a:t>Poor communication between development and operations teams. </a:t>
            </a:r>
          </a:p>
          <a:p>
            <a:pPr marL="742950" lvl="1" indent="-285750">
              <a:buFont typeface="Arial" panose="020B0604020202020204" pitchFamily="34" charset="0"/>
              <a:buChar char="•"/>
            </a:pPr>
            <a:r>
              <a:rPr lang="en-IN" dirty="0"/>
              <a:t>Limited visibility into incident status and resolution history. </a:t>
            </a:r>
          </a:p>
          <a:p>
            <a:pPr marL="742950" lvl="1" indent="-285750">
              <a:buFont typeface="Arial" panose="020B0604020202020204" pitchFamily="34" charset="0"/>
              <a:buChar char="•"/>
            </a:pPr>
            <a:r>
              <a:rPr lang="en-IN" dirty="0"/>
              <a:t>Tight coupling between system components when a centralized application is used. </a:t>
            </a:r>
          </a:p>
          <a:p>
            <a:r>
              <a:rPr lang="en-IN" b="1" dirty="0"/>
              <a:t>Proposed Solution</a:t>
            </a:r>
          </a:p>
          <a:p>
            <a:pPr marL="285750" indent="-285750">
              <a:buFont typeface="Wingdings" panose="05000000000000000000" pitchFamily="2" charset="2"/>
              <a:buChar char="Ø"/>
            </a:pPr>
            <a:r>
              <a:rPr lang="en-IN" dirty="0"/>
              <a:t>The </a:t>
            </a:r>
            <a:r>
              <a:rPr lang="en-IN" b="1" dirty="0"/>
              <a:t>DevOps Incident Management System</a:t>
            </a:r>
            <a:r>
              <a:rPr lang="en-IN" dirty="0"/>
              <a:t> provides a centralized and scalable platform for managing incidents using </a:t>
            </a:r>
            <a:r>
              <a:rPr lang="en-IN" b="1" dirty="0"/>
              <a:t>microservices and Service-Oriented Architecture</a:t>
            </a:r>
            <a:r>
              <a:rPr lang="en-IN" dirty="0"/>
              <a:t>.</a:t>
            </a:r>
          </a:p>
          <a:p>
            <a:pPr marL="285750" indent="-285750">
              <a:buFont typeface="Wingdings" panose="05000000000000000000" pitchFamily="2" charset="2"/>
              <a:buChar char="Ø"/>
            </a:pPr>
            <a:r>
              <a:rPr lang="en-IN" dirty="0"/>
              <a:t>The system manages the complete incident lifecycle:</a:t>
            </a:r>
          </a:p>
          <a:p>
            <a:r>
              <a:rPr lang="en-IN" b="1" dirty="0"/>
              <a:t>Incident Creation → Assignment → Status Tracking → Resolution → Notification</a:t>
            </a:r>
            <a:endParaRPr lang="en-IN" dirty="0"/>
          </a:p>
          <a:p>
            <a:pPr marL="285750" indent="-285750">
              <a:buFont typeface="Wingdings" panose="05000000000000000000" pitchFamily="2" charset="2"/>
              <a:buChar char="Ø"/>
            </a:pPr>
            <a:r>
              <a:rPr lang="en-IN" dirty="0"/>
              <a:t>It uses independent services, REST APIs, secure authentication, service discovery, API gateway routing, and event-driven communication to improve scalability, maintainability, and reliability.</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3452012E-820A-2E5C-187E-1968CA31D6D5}"/>
              </a:ext>
            </a:extLst>
          </p:cNvPr>
          <p:cNvSpPr txBox="1"/>
          <p:nvPr/>
        </p:nvSpPr>
        <p:spPr>
          <a:xfrm>
            <a:off x="524758" y="1852962"/>
            <a:ext cx="11142483" cy="3693319"/>
          </a:xfrm>
          <a:prstGeom prst="rect">
            <a:avLst/>
          </a:prstGeom>
          <a:noFill/>
        </p:spPr>
        <p:txBody>
          <a:bodyPr wrap="square" rtlCol="0">
            <a:spAutoFit/>
          </a:bodyPr>
          <a:lstStyle/>
          <a:p>
            <a:pPr marL="285750" lvl="0" indent="-285750">
              <a:buFont typeface="Arial" panose="020B0604020202020204" pitchFamily="34" charset="0"/>
              <a:buChar char="•"/>
            </a:pPr>
            <a:r>
              <a:rPr lang="en-IN" b="1" dirty="0"/>
              <a:t>Develop a centralized incident management system</a:t>
            </a:r>
            <a:r>
              <a:rPr lang="en-IN" dirty="0"/>
              <a:t> for creating, tracking, assigning, and resolving DevOps incidents. </a:t>
            </a:r>
          </a:p>
          <a:p>
            <a:pPr marL="285750" lvl="0" indent="-285750">
              <a:buFont typeface="Arial" panose="020B0604020202020204" pitchFamily="34" charset="0"/>
              <a:buChar char="•"/>
            </a:pPr>
            <a:r>
              <a:rPr lang="en-IN" b="1" dirty="0"/>
              <a:t>Implement a microservices-based architecture</a:t>
            </a:r>
            <a:r>
              <a:rPr lang="en-IN" dirty="0"/>
              <a:t> where major functionalities are independently developed and deployed. </a:t>
            </a:r>
          </a:p>
          <a:p>
            <a:pPr marL="285750" lvl="0" indent="-285750">
              <a:buFont typeface="Arial" panose="020B0604020202020204" pitchFamily="34" charset="0"/>
              <a:buChar char="•"/>
            </a:pPr>
            <a:r>
              <a:rPr lang="en-IN" b="1" dirty="0"/>
              <a:t>Provide secure authentication and authorization</a:t>
            </a:r>
            <a:r>
              <a:rPr lang="en-IN" dirty="0"/>
              <a:t> using </a:t>
            </a:r>
            <a:r>
              <a:rPr lang="en-IN" b="1" dirty="0"/>
              <a:t>JWT</a:t>
            </a:r>
            <a:r>
              <a:rPr lang="en-IN" dirty="0"/>
              <a:t>-based security and Role-Based Access Control (RBAC). </a:t>
            </a:r>
          </a:p>
          <a:p>
            <a:pPr marL="285750" lvl="0" indent="-285750">
              <a:buFont typeface="Arial" panose="020B0604020202020204" pitchFamily="34" charset="0"/>
              <a:buChar char="•"/>
            </a:pPr>
            <a:r>
              <a:rPr lang="en-IN" b="1" dirty="0"/>
              <a:t>Enable efficient incident assignment and tracking</a:t>
            </a:r>
            <a:r>
              <a:rPr lang="en-IN" dirty="0"/>
              <a:t> based on teams, services, severity, and incident status. </a:t>
            </a:r>
          </a:p>
          <a:p>
            <a:pPr marL="285750" lvl="0" indent="-285750">
              <a:buFont typeface="Arial" panose="020B0604020202020204" pitchFamily="34" charset="0"/>
              <a:buChar char="•"/>
            </a:pPr>
            <a:r>
              <a:rPr lang="en-IN" b="1" dirty="0"/>
              <a:t>Implement event-driven communication</a:t>
            </a:r>
            <a:r>
              <a:rPr lang="en-IN" dirty="0"/>
              <a:t> using Apache Kafka for asynchronous incident and notification events. </a:t>
            </a:r>
          </a:p>
          <a:p>
            <a:pPr marL="285750" lvl="0" indent="-285750">
              <a:buFont typeface="Arial" panose="020B0604020202020204" pitchFamily="34" charset="0"/>
              <a:buChar char="•"/>
            </a:pPr>
            <a:r>
              <a:rPr lang="en-IN" b="1" dirty="0"/>
              <a:t>Use service discovery and API gateway</a:t>
            </a:r>
            <a:r>
              <a:rPr lang="en-IN" dirty="0"/>
              <a:t> to provide reliable communication and centralized routing between microservices. </a:t>
            </a:r>
          </a:p>
          <a:p>
            <a:pPr marL="285750" lvl="0" indent="-285750">
              <a:buFont typeface="Arial" panose="020B0604020202020204" pitchFamily="34" charset="0"/>
              <a:buChar char="•"/>
            </a:pPr>
            <a:r>
              <a:rPr lang="en-IN" b="1" dirty="0"/>
              <a:t>Maintain independent databases for each service</a:t>
            </a:r>
            <a:r>
              <a:rPr lang="en-IN" dirty="0"/>
              <a:t> to improve service autonomy and scalability. </a:t>
            </a:r>
          </a:p>
          <a:p>
            <a:pPr marL="285750" lvl="0" indent="-285750">
              <a:buFont typeface="Arial" panose="020B0604020202020204" pitchFamily="34" charset="0"/>
              <a:buChar char="•"/>
            </a:pPr>
            <a:r>
              <a:rPr lang="en-IN" b="1" dirty="0"/>
              <a:t>Automate testing and deployment</a:t>
            </a:r>
            <a:r>
              <a:rPr lang="en-IN" dirty="0"/>
              <a:t> using tools such as JUnit, Mockito, Docker, and GitHub Actions. </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2944506811"/>
              </p:ext>
            </p:extLst>
          </p:nvPr>
        </p:nvGraphicFramePr>
        <p:xfrm>
          <a:off x="274646" y="689466"/>
          <a:ext cx="11642705" cy="4656054"/>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1743765">
                  <a:extLst>
                    <a:ext uri="{9D8B030D-6E8A-4147-A177-3AD203B41FA5}">
                      <a16:colId xmlns:a16="http://schemas.microsoft.com/office/drawing/2014/main" val="20003"/>
                    </a:ext>
                  </a:extLst>
                </a:gridCol>
                <a:gridCol w="3668932">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IN" sz="1400"/>
                        <a:t>Kim et al.</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t>The DevOps Handbook</a:t>
                      </a:r>
                      <a:endParaRPr lang="en-IN" sz="1400" b="1" i="0"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DevOps practices, automation, continuous delivery and collaboration</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Demonstrates how development and operations integration improves software delivery and reliability</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IN" sz="1400" dirty="0"/>
                        <a:t>Requires suitable tooling and organizational adoption</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lang="en-IN" sz="1400" dirty="0"/>
                        <a:t>Newman</a:t>
                      </a:r>
                      <a:endParaRPr lang="en-IN" sz="1400" b="0"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t>Building Microservices</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Microservices architecture, service decomposition and independent deployment</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Shows how independent services improve scalability and maintainability</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IN" sz="1400" dirty="0"/>
                        <a:t>Distributed systems introduce communication and monitoring complexity</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lang="en-IN" sz="1400" dirty="0"/>
                        <a:t>Richardson</a:t>
                      </a:r>
                      <a:endParaRPr lang="en-IN" sz="14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t>Kafka: The Definitive Guide</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Event streaming and asynchronous messaging using Kafka</a:t>
                      </a: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Event-driven communication enables loosely coupled and scalable services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IN" sz="1400" dirty="0"/>
                        <a:t>Requires proper event management, monitoring and fault handling</a:t>
                      </a:r>
                      <a:endParaRPr lang="en-US" sz="14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151459"/>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76297B46-7199-D45F-3140-24566992B4B5}"/>
              </a:ext>
            </a:extLst>
          </p:cNvPr>
          <p:cNvSpPr txBox="1"/>
          <p:nvPr/>
        </p:nvSpPr>
        <p:spPr>
          <a:xfrm>
            <a:off x="606108" y="889843"/>
            <a:ext cx="10614582" cy="5078313"/>
          </a:xfrm>
          <a:prstGeom prst="rect">
            <a:avLst/>
          </a:prstGeom>
          <a:noFill/>
        </p:spPr>
        <p:txBody>
          <a:bodyPr wrap="square" rtlCol="0">
            <a:spAutoFit/>
          </a:bodyPr>
          <a:lstStyle/>
          <a:p>
            <a:r>
              <a:rPr lang="en-IN" b="1" dirty="0"/>
              <a:t>There is a need for a secure, scalable and loosely coupled incident management platform that combines microservices, API Gateway, service discovery, event-driven communication and independent databases into a unified DevOps incident management workflow.</a:t>
            </a:r>
            <a:endParaRPr lang="en-IN" dirty="0"/>
          </a:p>
          <a:p>
            <a:r>
              <a:rPr lang="en-IN" dirty="0"/>
              <a:t>From the existing approaches, we identified the following gaps:</a:t>
            </a:r>
          </a:p>
          <a:p>
            <a:r>
              <a:rPr lang="en-IN" b="1" dirty="0"/>
              <a:t>1. Fragmented Incident Management</a:t>
            </a:r>
            <a:br>
              <a:rPr lang="en-IN" dirty="0"/>
            </a:br>
            <a:r>
              <a:rPr lang="en-IN" dirty="0"/>
              <a:t>Incident creation, assignment, communication, and resolution may be handled through separate tools, making tracking difficult.</a:t>
            </a:r>
          </a:p>
          <a:p>
            <a:r>
              <a:rPr lang="en-IN" b="1" dirty="0"/>
              <a:t>2. Synchronous Dependency</a:t>
            </a:r>
            <a:br>
              <a:rPr lang="en-IN" dirty="0"/>
            </a:br>
            <a:r>
              <a:rPr lang="en-IN" dirty="0"/>
              <a:t>Direct service-to-service communication can create tight coupling and increase the impact of service failures.</a:t>
            </a:r>
          </a:p>
          <a:p>
            <a:r>
              <a:rPr lang="en-IN" b="1" dirty="0"/>
              <a:t>3. Lack of Centralized Routing</a:t>
            </a:r>
            <a:br>
              <a:rPr lang="en-IN" dirty="0"/>
            </a:br>
            <a:r>
              <a:rPr lang="en-IN" dirty="0"/>
              <a:t>Without an API Gateway, clients may need to directly communicate with multiple backend services.</a:t>
            </a:r>
          </a:p>
          <a:p>
            <a:r>
              <a:rPr lang="en-IN" b="1" dirty="0"/>
              <a:t>4. Security Challenges</a:t>
            </a:r>
            <a:br>
              <a:rPr lang="en-IN" dirty="0"/>
            </a:br>
            <a:r>
              <a:rPr lang="en-IN" dirty="0"/>
              <a:t>Incident management systems require controlled access based on user roles such as administrators, developers, and operations teams.</a:t>
            </a:r>
          </a:p>
          <a:p>
            <a:r>
              <a:rPr lang="en-IN" b="1" dirty="0"/>
              <a:t>5. Database Coupling</a:t>
            </a:r>
            <a:br>
              <a:rPr lang="en-IN" dirty="0"/>
            </a:br>
            <a:r>
              <a:rPr lang="en-IN" dirty="0"/>
              <a:t>Using a common database can reduce service independence and make scaling individual services difficult.</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179766"/>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29611176-DDED-1515-ED84-3AB34ED34C7F}"/>
              </a:ext>
            </a:extLst>
          </p:cNvPr>
          <p:cNvSpPr txBox="1"/>
          <p:nvPr/>
        </p:nvSpPr>
        <p:spPr>
          <a:xfrm>
            <a:off x="477623" y="1005863"/>
            <a:ext cx="11236751" cy="5078313"/>
          </a:xfrm>
          <a:prstGeom prst="rect">
            <a:avLst/>
          </a:prstGeom>
          <a:noFill/>
        </p:spPr>
        <p:txBody>
          <a:bodyPr wrap="square" rtlCol="0">
            <a:spAutoFit/>
          </a:bodyPr>
          <a:lstStyle/>
          <a:p>
            <a:r>
              <a:rPr lang="en-IN" dirty="0"/>
              <a:t>Our project combines several SOA and DevOps concepts into one integrated incident management platform.</a:t>
            </a:r>
          </a:p>
          <a:p>
            <a:r>
              <a:rPr lang="en-IN" b="1" dirty="0"/>
              <a:t>1. Event-Driven Incident Workflow</a:t>
            </a:r>
          </a:p>
          <a:p>
            <a:r>
              <a:rPr lang="en-IN" dirty="0"/>
              <a:t>Apache Kafka is used for asynchronous communication and event propagation between services.</a:t>
            </a:r>
          </a:p>
          <a:p>
            <a:r>
              <a:rPr lang="en-IN" b="1" dirty="0"/>
              <a:t>2. API Gateway</a:t>
            </a:r>
          </a:p>
          <a:p>
            <a:r>
              <a:rPr lang="en-IN" dirty="0"/>
              <a:t>Spring Cloud Gateway provides a single entry point for clients and handles routing to the appropriate microservice.</a:t>
            </a:r>
          </a:p>
          <a:p>
            <a:r>
              <a:rPr lang="en-IN" b="1" dirty="0"/>
              <a:t>3. Service Discovery</a:t>
            </a:r>
          </a:p>
          <a:p>
            <a:r>
              <a:rPr lang="en-IN" dirty="0"/>
              <a:t>Eureka enables services to dynamically discover and communicate with other registered services.</a:t>
            </a:r>
          </a:p>
          <a:p>
            <a:r>
              <a:rPr lang="en-IN" b="1" dirty="0"/>
              <a:t>4. Secure Access Control</a:t>
            </a:r>
          </a:p>
          <a:p>
            <a:r>
              <a:rPr lang="en-IN" dirty="0"/>
              <a:t>JWT authentication and RBAC restrict system operations according to user roles.</a:t>
            </a:r>
          </a:p>
          <a:p>
            <a:r>
              <a:rPr lang="en-IN" b="1" dirty="0"/>
              <a:t>5. Database per Service</a:t>
            </a:r>
          </a:p>
          <a:p>
            <a:r>
              <a:rPr lang="en-IN" dirty="0"/>
              <a:t>Each microservice maintains its own database, improving service autonomy and reducing database-level coupling.</a:t>
            </a:r>
          </a:p>
          <a:p>
            <a:r>
              <a:rPr lang="en-IN" b="1" dirty="0"/>
              <a:t>6. Automated DevOps Pipeline</a:t>
            </a:r>
          </a:p>
          <a:p>
            <a:r>
              <a:rPr lang="en-IN" dirty="0"/>
              <a:t>GitHub Actions can automate build, testing and deployment activities.</a:t>
            </a:r>
          </a:p>
          <a:p>
            <a:r>
              <a:rPr lang="en-IN" b="1" dirty="0"/>
              <a:t>7. Complete Incident Lifecycle</a:t>
            </a:r>
          </a:p>
          <a:p>
            <a:r>
              <a:rPr lang="en-IN" dirty="0"/>
              <a:t>The system connects the entire workflow:</a:t>
            </a:r>
          </a:p>
          <a:p>
            <a:r>
              <a:rPr lang="en-IN" b="1" dirty="0"/>
              <a:t>Create → Assign → Track → Resolve → Notify</a:t>
            </a:r>
            <a:endParaRPr lang="en-IN" dirty="0"/>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478993" y="390803"/>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a:extLst>
              <a:ext uri="{FF2B5EF4-FFF2-40B4-BE49-F238E27FC236}">
                <a16:creationId xmlns:a16="http://schemas.microsoft.com/office/drawing/2014/main" id="{E7EFF748-6769-199B-514D-36BCADAE4842}"/>
              </a:ext>
            </a:extLst>
          </p:cNvPr>
          <p:cNvSpPr txBox="1"/>
          <p:nvPr/>
        </p:nvSpPr>
        <p:spPr>
          <a:xfrm>
            <a:off x="559324" y="1348033"/>
            <a:ext cx="11133055" cy="3970318"/>
          </a:xfrm>
          <a:prstGeom prst="rect">
            <a:avLst/>
          </a:prstGeom>
          <a:noFill/>
        </p:spPr>
        <p:txBody>
          <a:bodyPr wrap="square" rtlCol="0">
            <a:spAutoFit/>
          </a:bodyPr>
          <a:lstStyle/>
          <a:p>
            <a:r>
              <a:rPr lang="en-IN" b="1" dirty="0"/>
              <a:t>Technical Feasibility</a:t>
            </a:r>
            <a:endParaRPr lang="en-IN" dirty="0"/>
          </a:p>
          <a:p>
            <a:pPr marL="285750" lvl="0" indent="-285750">
              <a:buFont typeface="Arial" panose="020B0604020202020204" pitchFamily="34" charset="0"/>
              <a:buChar char="•"/>
            </a:pPr>
            <a:r>
              <a:rPr lang="en-IN" dirty="0"/>
              <a:t>Java and Spring Boot provide a mature platform for developing microservices. </a:t>
            </a:r>
          </a:p>
          <a:p>
            <a:pPr marL="285750" lvl="0" indent="-285750">
              <a:buFont typeface="Arial" panose="020B0604020202020204" pitchFamily="34" charset="0"/>
              <a:buChar char="•"/>
            </a:pPr>
            <a:r>
              <a:rPr lang="en-IN" dirty="0"/>
              <a:t>Spring Cloud supports API Gateway and service discovery. </a:t>
            </a:r>
          </a:p>
          <a:p>
            <a:pPr marL="285750" lvl="0" indent="-285750">
              <a:buFont typeface="Arial" panose="020B0604020202020204" pitchFamily="34" charset="0"/>
              <a:buChar char="•"/>
            </a:pPr>
            <a:r>
              <a:rPr lang="en-IN" dirty="0"/>
              <a:t>PostgreSQL provides reliable relational data storage. </a:t>
            </a:r>
          </a:p>
          <a:p>
            <a:pPr marL="285750" lvl="0" indent="-285750">
              <a:buFont typeface="Arial" panose="020B0604020202020204" pitchFamily="34" charset="0"/>
              <a:buChar char="•"/>
            </a:pPr>
            <a:r>
              <a:rPr lang="en-IN" dirty="0"/>
              <a:t>Apache Kafka supports asynchronous event communication. </a:t>
            </a:r>
          </a:p>
          <a:p>
            <a:pPr marL="285750" lvl="0" indent="-285750">
              <a:buFont typeface="Arial" panose="020B0604020202020204" pitchFamily="34" charset="0"/>
              <a:buChar char="•"/>
            </a:pPr>
            <a:r>
              <a:rPr lang="en-IN" dirty="0"/>
              <a:t>Docker enables containerized deployment. </a:t>
            </a:r>
          </a:p>
          <a:p>
            <a:r>
              <a:rPr lang="en-IN" b="1" dirty="0"/>
              <a:t>Economic Feasibility</a:t>
            </a:r>
            <a:endParaRPr lang="en-IN" dirty="0"/>
          </a:p>
          <a:p>
            <a:pPr marL="285750" lvl="0" indent="-285750">
              <a:buFont typeface="Arial" panose="020B0604020202020204" pitchFamily="34" charset="0"/>
              <a:buChar char="•"/>
            </a:pPr>
            <a:r>
              <a:rPr lang="en-IN" dirty="0"/>
              <a:t>The project primarily uses open-source technologies. </a:t>
            </a:r>
          </a:p>
          <a:p>
            <a:pPr marL="285750" lvl="0" indent="-285750">
              <a:buFont typeface="Arial" panose="020B0604020202020204" pitchFamily="34" charset="0"/>
              <a:buChar char="•"/>
            </a:pPr>
            <a:r>
              <a:rPr lang="en-IN" dirty="0"/>
              <a:t>Development can be performed using existing systems and freely available tools. </a:t>
            </a:r>
          </a:p>
          <a:p>
            <a:pPr marL="285750" lvl="0" indent="-285750">
              <a:buFont typeface="Arial" panose="020B0604020202020204" pitchFamily="34" charset="0"/>
              <a:buChar char="•"/>
            </a:pPr>
            <a:r>
              <a:rPr lang="en-IN" dirty="0"/>
              <a:t>No specialized hardware is required. </a:t>
            </a:r>
          </a:p>
          <a:p>
            <a:r>
              <a:rPr lang="en-IN" b="1" dirty="0"/>
              <a:t>Operational Feasibility</a:t>
            </a:r>
            <a:endParaRPr lang="en-IN" dirty="0"/>
          </a:p>
          <a:p>
            <a:pPr marL="285750" lvl="0" indent="-285750">
              <a:buFont typeface="Arial" panose="020B0604020202020204" pitchFamily="34" charset="0"/>
              <a:buChar char="•"/>
            </a:pPr>
            <a:r>
              <a:rPr lang="en-IN" dirty="0"/>
              <a:t>The system provides a centralized interface for incident management. </a:t>
            </a:r>
          </a:p>
          <a:p>
            <a:pPr marL="285750" lvl="0" indent="-285750">
              <a:buFont typeface="Arial" panose="020B0604020202020204" pitchFamily="34" charset="0"/>
              <a:buChar char="•"/>
            </a:pPr>
            <a:r>
              <a:rPr lang="en-IN" dirty="0"/>
              <a:t>Role-based access makes the system suitable for different DevOps teams. </a:t>
            </a:r>
          </a:p>
          <a:p>
            <a:pPr marL="285750" lvl="0" indent="-285750">
              <a:buFont typeface="Arial" panose="020B0604020202020204" pitchFamily="34" charset="0"/>
              <a:buChar char="•"/>
            </a:pPr>
            <a:r>
              <a:rPr lang="en-IN" dirty="0"/>
              <a:t>Independent services make future modifications easier.</a:t>
            </a:r>
          </a:p>
        </p:txBody>
      </p:sp>
    </p:spTree>
    <p:extLst>
      <p:ext uri="{BB962C8B-B14F-4D97-AF65-F5344CB8AC3E}">
        <p14:creationId xmlns:p14="http://schemas.microsoft.com/office/powerpoint/2010/main" val="4118855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BF784-88B8-A2B2-A15A-0FB8A09B2B0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BED1BA2-F72A-2715-0991-5CE5E74A4CF4}"/>
              </a:ext>
            </a:extLst>
          </p:cNvPr>
          <p:cNvSpPr txBox="1"/>
          <p:nvPr/>
        </p:nvSpPr>
        <p:spPr>
          <a:xfrm>
            <a:off x="2478993" y="390803"/>
            <a:ext cx="7234014" cy="707886"/>
          </a:xfrm>
          <a:prstGeom prst="rect">
            <a:avLst/>
          </a:prstGeom>
          <a:noFill/>
        </p:spPr>
        <p:txBody>
          <a:bodyPr wrap="square">
            <a:spAutoFit/>
          </a:bodyPr>
          <a:lstStyle/>
          <a:p>
            <a:pPr algn="ctr"/>
            <a:r>
              <a:rPr lang="en-IN" sz="4000" b="1" dirty="0"/>
              <a:t>Project Plan / Timeline</a:t>
            </a:r>
            <a:endParaRPr lang="en-US" sz="4000" b="1" dirty="0"/>
          </a:p>
        </p:txBody>
      </p:sp>
      <p:pic>
        <p:nvPicPr>
          <p:cNvPr id="4" name="Picture 3">
            <a:extLst>
              <a:ext uri="{FF2B5EF4-FFF2-40B4-BE49-F238E27FC236}">
                <a16:creationId xmlns:a16="http://schemas.microsoft.com/office/drawing/2014/main" id="{EBD5CB45-BE24-D476-B8B6-96FCCDD9679B}"/>
              </a:ext>
            </a:extLst>
          </p:cNvPr>
          <p:cNvPicPr>
            <a:picLocks noChangeAspect="1"/>
          </p:cNvPicPr>
          <p:nvPr/>
        </p:nvPicPr>
        <p:blipFill>
          <a:blip r:embed="rId2"/>
          <a:stretch>
            <a:fillRect/>
          </a:stretch>
        </p:blipFill>
        <p:spPr>
          <a:xfrm>
            <a:off x="10249380" y="0"/>
            <a:ext cx="1942620" cy="622550"/>
          </a:xfrm>
          <a:prstGeom prst="rect">
            <a:avLst/>
          </a:prstGeom>
        </p:spPr>
      </p:pic>
      <p:pic>
        <p:nvPicPr>
          <p:cNvPr id="3" name="Picture 2" descr="The image depicts a structured project lifecycle with ten phases, starting from a literature survey and requirement analysis to the final deployment on cloud, including various technical development stages, service discovery, API gateway, security implementation, event-driven communication, containerization, and testing.&#10;&#10;AI-generated content may be incorrect.">
            <a:extLst>
              <a:ext uri="{FF2B5EF4-FFF2-40B4-BE49-F238E27FC236}">
                <a16:creationId xmlns:a16="http://schemas.microsoft.com/office/drawing/2014/main" id="{4C186624-954B-A0C5-9223-A26A4ED99D5C}"/>
              </a:ext>
            </a:extLst>
          </p:cNvPr>
          <p:cNvPicPr>
            <a:picLocks noChangeAspect="1"/>
          </p:cNvPicPr>
          <p:nvPr/>
        </p:nvPicPr>
        <p:blipFill>
          <a:blip r:embed="rId3"/>
          <a:stretch>
            <a:fillRect/>
          </a:stretch>
        </p:blipFill>
        <p:spPr>
          <a:xfrm>
            <a:off x="1691446" y="1098689"/>
            <a:ext cx="8021561" cy="5347707"/>
          </a:xfrm>
          <a:prstGeom prst="rect">
            <a:avLst/>
          </a:prstGeom>
        </p:spPr>
      </p:pic>
    </p:spTree>
    <p:extLst>
      <p:ext uri="{BB962C8B-B14F-4D97-AF65-F5344CB8AC3E}">
        <p14:creationId xmlns:p14="http://schemas.microsoft.com/office/powerpoint/2010/main" val="38400117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213</TotalTime>
  <Words>901</Words>
  <Application>Microsoft Office PowerPoint</Application>
  <PresentationFormat>Widescreen</PresentationFormat>
  <Paragraphs>129</Paragraphs>
  <Slides>9</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9</vt:i4>
      </vt:variant>
    </vt:vector>
  </HeadingPairs>
  <TitlesOfParts>
    <vt:vector size="18" baseType="lpstr">
      <vt:lpstr>Aptos</vt:lpstr>
      <vt:lpstr>Aptos Display</vt:lpstr>
      <vt:lpstr>Arial</vt:lpstr>
      <vt:lpstr>Calibri</vt:lpstr>
      <vt:lpstr>Calibri Light</vt:lpstr>
      <vt:lpstr>Times New Roman</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Srijan Bojja</cp:lastModifiedBy>
  <cp:revision>32</cp:revision>
  <dcterms:created xsi:type="dcterms:W3CDTF">2026-08-08T06:33:56Z</dcterms:created>
  <dcterms:modified xsi:type="dcterms:W3CDTF">2026-08-27T08:43:07Z</dcterms:modified>
</cp:coreProperties>
</file>