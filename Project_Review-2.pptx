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903" r:id="rId4"/>
    <p:sldId id="905" r:id="rId5"/>
    <p:sldId id="902" r:id="rId6"/>
    <p:sldId id="258" r:id="rId7"/>
    <p:sldId id="259" r:id="rId8"/>
    <p:sldId id="260" r:id="rId9"/>
    <p:sldId id="9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D17D2-CFFD-4A37-A62F-5514F8352EFF}" v="23" dt="2026-09-26T04:06:02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an Bojja" userId="9dd9b8128eec74f3" providerId="LiveId" clId="{1FFEEFEF-D932-402B-875C-EA502E1000FD}"/>
    <pc:docChg chg="undo custSel addSld delSld modSld delMainMaster">
      <pc:chgData name="Srijan Bojja" userId="9dd9b8128eec74f3" providerId="LiveId" clId="{1FFEEFEF-D932-402B-875C-EA502E1000FD}" dt="2026-09-26T04:12:11.437" v="116" actId="2696"/>
      <pc:docMkLst>
        <pc:docMk/>
      </pc:docMkLst>
      <pc:sldChg chg="modSp mod">
        <pc:chgData name="Srijan Bojja" userId="9dd9b8128eec74f3" providerId="LiveId" clId="{1FFEEFEF-D932-402B-875C-EA502E1000FD}" dt="2026-09-26T03:58:29.156" v="28" actId="15"/>
        <pc:sldMkLst>
          <pc:docMk/>
          <pc:sldMk cId="1843937772" sldId="257"/>
        </pc:sldMkLst>
        <pc:spChg chg="mod">
          <ac:chgData name="Srijan Bojja" userId="9dd9b8128eec74f3" providerId="LiveId" clId="{1FFEEFEF-D932-402B-875C-EA502E1000FD}" dt="2026-09-26T03:58:29.156" v="28" actId="15"/>
          <ac:spMkLst>
            <pc:docMk/>
            <pc:sldMk cId="1843937772" sldId="257"/>
            <ac:spMk id="2" creationId="{E37B9837-AED8-C8EE-BD0B-FC598521EA5E}"/>
          </ac:spMkLst>
        </pc:spChg>
        <pc:spChg chg="mod">
          <ac:chgData name="Srijan Bojja" userId="9dd9b8128eec74f3" providerId="LiveId" clId="{1FFEEFEF-D932-402B-875C-EA502E1000FD}" dt="2026-09-26T03:57:12.702" v="6"/>
          <ac:spMkLst>
            <pc:docMk/>
            <pc:sldMk cId="1843937772" sldId="257"/>
            <ac:spMk id="5" creationId="{8DBD4C9C-9DEB-26F4-AA75-F51C06DD64DC}"/>
          </ac:spMkLst>
        </pc:spChg>
      </pc:sldChg>
      <pc:sldChg chg="addSp delSp modSp mod">
        <pc:chgData name="Srijan Bojja" userId="9dd9b8128eec74f3" providerId="LiveId" clId="{1FFEEFEF-D932-402B-875C-EA502E1000FD}" dt="2026-09-26T04:04:29.187" v="79"/>
        <pc:sldMkLst>
          <pc:docMk/>
          <pc:sldMk cId="2065876014" sldId="258"/>
        </pc:sldMkLst>
        <pc:spChg chg="mod">
          <ac:chgData name="Srijan Bojja" userId="9dd9b8128eec74f3" providerId="LiveId" clId="{1FFEEFEF-D932-402B-875C-EA502E1000FD}" dt="2026-09-26T04:03:35.742" v="71" actId="14100"/>
          <ac:spMkLst>
            <pc:docMk/>
            <pc:sldMk cId="2065876014" sldId="258"/>
            <ac:spMk id="2" creationId="{76297B46-7199-D45F-3140-24566992B4B5}"/>
          </ac:spMkLst>
        </pc:spChg>
        <pc:spChg chg="add del mod">
          <ac:chgData name="Srijan Bojja" userId="9dd9b8128eec74f3" providerId="LiveId" clId="{1FFEEFEF-D932-402B-875C-EA502E1000FD}" dt="2026-09-26T04:03:55.936" v="75"/>
          <ac:spMkLst>
            <pc:docMk/>
            <pc:sldMk cId="2065876014" sldId="258"/>
            <ac:spMk id="4" creationId="{4C6F9C74-04C6-22E6-16AD-28837C28FC6E}"/>
          </ac:spMkLst>
        </pc:spChg>
        <pc:spChg chg="mod">
          <ac:chgData name="Srijan Bojja" userId="9dd9b8128eec74f3" providerId="LiveId" clId="{1FFEEFEF-D932-402B-875C-EA502E1000FD}" dt="2026-09-26T04:03:16.959" v="69"/>
          <ac:spMkLst>
            <pc:docMk/>
            <pc:sldMk cId="2065876014" sldId="258"/>
            <ac:spMk id="5" creationId="{C00062CA-E93E-DFB0-5A22-1412AB9A6752}"/>
          </ac:spMkLst>
        </pc:spChg>
        <pc:spChg chg="add mod">
          <ac:chgData name="Srijan Bojja" userId="9dd9b8128eec74f3" providerId="LiveId" clId="{1FFEEFEF-D932-402B-875C-EA502E1000FD}" dt="2026-09-26T04:04:17.266" v="77" actId="767"/>
          <ac:spMkLst>
            <pc:docMk/>
            <pc:sldMk cId="2065876014" sldId="258"/>
            <ac:spMk id="6" creationId="{F5F11BAC-5095-A48C-07B7-D23E17A1AC33}"/>
          </ac:spMkLst>
        </pc:spChg>
        <pc:spChg chg="add mod">
          <ac:chgData name="Srijan Bojja" userId="9dd9b8128eec74f3" providerId="LiveId" clId="{1FFEEFEF-D932-402B-875C-EA502E1000FD}" dt="2026-09-26T04:04:29.187" v="79"/>
          <ac:spMkLst>
            <pc:docMk/>
            <pc:sldMk cId="2065876014" sldId="258"/>
            <ac:spMk id="7" creationId="{01FC38A1-1E9F-6129-A5FD-614E8E1F58D7}"/>
          </ac:spMkLst>
        </pc:spChg>
      </pc:sldChg>
      <pc:sldChg chg="modSp">
        <pc:chgData name="Srijan Bojja" userId="9dd9b8128eec74f3" providerId="LiveId" clId="{1FFEEFEF-D932-402B-875C-EA502E1000FD}" dt="2026-09-26T04:04:55.746" v="81"/>
        <pc:sldMkLst>
          <pc:docMk/>
          <pc:sldMk cId="3524135319" sldId="259"/>
        </pc:sldMkLst>
        <pc:spChg chg="mod">
          <ac:chgData name="Srijan Bojja" userId="9dd9b8128eec74f3" providerId="LiveId" clId="{1FFEEFEF-D932-402B-875C-EA502E1000FD}" dt="2026-09-26T04:04:55.746" v="81"/>
          <ac:spMkLst>
            <pc:docMk/>
            <pc:sldMk cId="3524135319" sldId="259"/>
            <ac:spMk id="2" creationId="{29611176-DDED-1515-ED84-3AB34ED34C7F}"/>
          </ac:spMkLst>
        </pc:spChg>
        <pc:spChg chg="mod">
          <ac:chgData name="Srijan Bojja" userId="9dd9b8128eec74f3" providerId="LiveId" clId="{1FFEEFEF-D932-402B-875C-EA502E1000FD}" dt="2026-09-26T04:04:47.100" v="80"/>
          <ac:spMkLst>
            <pc:docMk/>
            <pc:sldMk cId="3524135319" sldId="259"/>
            <ac:spMk id="5" creationId="{D4387226-F29E-0041-5581-4EF07C7198F1}"/>
          </ac:spMkLst>
        </pc:spChg>
      </pc:sldChg>
      <pc:sldChg chg="modSp mod">
        <pc:chgData name="Srijan Bojja" userId="9dd9b8128eec74f3" providerId="LiveId" clId="{1FFEEFEF-D932-402B-875C-EA502E1000FD}" dt="2026-09-26T04:05:35.277" v="84"/>
        <pc:sldMkLst>
          <pc:docMk/>
          <pc:sldMk cId="4118855268" sldId="260"/>
        </pc:sldMkLst>
        <pc:spChg chg="mod">
          <ac:chgData name="Srijan Bojja" userId="9dd9b8128eec74f3" providerId="LiveId" clId="{1FFEEFEF-D932-402B-875C-EA502E1000FD}" dt="2026-09-26T04:05:26.265" v="83" actId="255"/>
          <ac:spMkLst>
            <pc:docMk/>
            <pc:sldMk cId="4118855268" sldId="260"/>
            <ac:spMk id="5" creationId="{9EF7CE10-08D9-83CF-7508-12575531E1E0}"/>
          </ac:spMkLst>
        </pc:spChg>
        <pc:spChg chg="mod">
          <ac:chgData name="Srijan Bojja" userId="9dd9b8128eec74f3" providerId="LiveId" clId="{1FFEEFEF-D932-402B-875C-EA502E1000FD}" dt="2026-09-26T04:05:35.277" v="84"/>
          <ac:spMkLst>
            <pc:docMk/>
            <pc:sldMk cId="4118855268" sldId="260"/>
            <ac:spMk id="6" creationId="{E7EFF748-6769-199B-514D-36BCADAE4842}"/>
          </ac:spMkLst>
        </pc:spChg>
      </pc:sldChg>
      <pc:sldChg chg="modSp mod">
        <pc:chgData name="Srijan Bojja" userId="9dd9b8128eec74f3" providerId="LiveId" clId="{1FFEEFEF-D932-402B-875C-EA502E1000FD}" dt="2026-09-26T03:56:42.455" v="1" actId="20577"/>
        <pc:sldMkLst>
          <pc:docMk/>
          <pc:sldMk cId="2247602601" sldId="262"/>
        </pc:sldMkLst>
        <pc:spChg chg="mod">
          <ac:chgData name="Srijan Bojja" userId="9dd9b8128eec74f3" providerId="LiveId" clId="{1FFEEFEF-D932-402B-875C-EA502E1000FD}" dt="2026-09-26T03:56:42.455" v="1" actId="20577"/>
          <ac:spMkLst>
            <pc:docMk/>
            <pc:sldMk cId="2247602601" sldId="262"/>
            <ac:spMk id="35" creationId="{8FB49AA0-2464-6225-6B6C-063F9A6ECD20}"/>
          </ac:spMkLst>
        </pc:spChg>
      </pc:sldChg>
      <pc:sldChg chg="del">
        <pc:chgData name="Srijan Bojja" userId="9dd9b8128eec74f3" providerId="LiveId" clId="{1FFEEFEF-D932-402B-875C-EA502E1000FD}" dt="2026-09-26T04:12:11.437" v="116" actId="2696"/>
        <pc:sldMkLst>
          <pc:docMk/>
          <pc:sldMk cId="2747969496" sldId="707"/>
        </pc:sldMkLst>
      </pc:sldChg>
      <pc:sldChg chg="addSp delSp modSp mod">
        <pc:chgData name="Srijan Bojja" userId="9dd9b8128eec74f3" providerId="LiveId" clId="{1FFEEFEF-D932-402B-875C-EA502E1000FD}" dt="2026-09-26T04:11:38.819" v="115" actId="1076"/>
        <pc:sldMkLst>
          <pc:docMk/>
          <pc:sldMk cId="3029277067" sldId="902"/>
        </pc:sldMkLst>
        <pc:spChg chg="mod">
          <ac:chgData name="Srijan Bojja" userId="9dd9b8128eec74f3" providerId="LiveId" clId="{1FFEEFEF-D932-402B-875C-EA502E1000FD}" dt="2026-09-26T04:11:04.888" v="109" actId="207"/>
          <ac:spMkLst>
            <pc:docMk/>
            <pc:sldMk cId="3029277067" sldId="902"/>
            <ac:spMk id="2" creationId="{C48F0022-391A-4CFC-2851-87E76B37EAC2}"/>
          </ac:spMkLst>
        </pc:spChg>
        <pc:spChg chg="add mod">
          <ac:chgData name="Srijan Bojja" userId="9dd9b8128eec74f3" providerId="LiveId" clId="{1FFEEFEF-D932-402B-875C-EA502E1000FD}" dt="2026-09-26T04:11:38.819" v="115" actId="1076"/>
          <ac:spMkLst>
            <pc:docMk/>
            <pc:sldMk cId="3029277067" sldId="902"/>
            <ac:spMk id="3" creationId="{7626BCF9-C607-75D9-9C6A-528F4EFCCA9F}"/>
          </ac:spMkLst>
        </pc:spChg>
        <pc:spChg chg="add mod">
          <ac:chgData name="Srijan Bojja" userId="9dd9b8128eec74f3" providerId="LiveId" clId="{1FFEEFEF-D932-402B-875C-EA502E1000FD}" dt="2026-09-26T04:11:29.049" v="113" actId="1076"/>
          <ac:spMkLst>
            <pc:docMk/>
            <pc:sldMk cId="3029277067" sldId="902"/>
            <ac:spMk id="5" creationId="{F0B95EC1-C8A6-0544-A3F4-5CC80A69160F}"/>
          </ac:spMkLst>
        </pc:spChg>
        <pc:graphicFrameChg chg="del">
          <ac:chgData name="Srijan Bojja" userId="9dd9b8128eec74f3" providerId="LiveId" clId="{1FFEEFEF-D932-402B-875C-EA502E1000FD}" dt="2026-09-26T04:00:27.398" v="58" actId="478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modSp mod">
        <pc:chgData name="Srijan Bojja" userId="9dd9b8128eec74f3" providerId="LiveId" clId="{1FFEEFEF-D932-402B-875C-EA502E1000FD}" dt="2026-09-26T03:59:58.419" v="54" actId="1076"/>
        <pc:sldMkLst>
          <pc:docMk/>
          <pc:sldMk cId="3917782940" sldId="903"/>
        </pc:sldMkLst>
        <pc:spChg chg="mod">
          <ac:chgData name="Srijan Bojja" userId="9dd9b8128eec74f3" providerId="LiveId" clId="{1FFEEFEF-D932-402B-875C-EA502E1000FD}" dt="2026-09-26T03:59:58.419" v="54" actId="1076"/>
          <ac:spMkLst>
            <pc:docMk/>
            <pc:sldMk cId="3917782940" sldId="903"/>
            <ac:spMk id="2" creationId="{3452012E-820A-2E5C-187E-1968CA31D6D5}"/>
          </ac:spMkLst>
        </pc:spChg>
        <pc:spChg chg="mod">
          <ac:chgData name="Srijan Bojja" userId="9dd9b8128eec74f3" providerId="LiveId" clId="{1FFEEFEF-D932-402B-875C-EA502E1000FD}" dt="2026-09-26T03:58:54.215" v="29"/>
          <ac:spMkLst>
            <pc:docMk/>
            <pc:sldMk cId="3917782940" sldId="903"/>
            <ac:spMk id="5" creationId="{7F508849-A0DD-12D4-FD0D-5322CA138B2F}"/>
          </ac:spMkLst>
        </pc:spChg>
      </pc:sldChg>
      <pc:sldChg chg="addSp delSp modSp mod">
        <pc:chgData name="Srijan Bojja" userId="9dd9b8128eec74f3" providerId="LiveId" clId="{1FFEEFEF-D932-402B-875C-EA502E1000FD}" dt="2026-09-26T04:09:55.501" v="104" actId="1076"/>
        <pc:sldMkLst>
          <pc:docMk/>
          <pc:sldMk cId="3840011770" sldId="904"/>
        </pc:sldMkLst>
        <pc:spChg chg="del mod">
          <ac:chgData name="Srijan Bojja" userId="9dd9b8128eec74f3" providerId="LiveId" clId="{1FFEEFEF-D932-402B-875C-EA502E1000FD}" dt="2026-09-26T04:09:41.880" v="98" actId="478"/>
          <ac:spMkLst>
            <pc:docMk/>
            <pc:sldMk cId="3840011770" sldId="904"/>
            <ac:spMk id="5" creationId="{DBED1BA2-F72A-2715-0991-5CE5E74A4CF4}"/>
          </ac:spMkLst>
        </pc:spChg>
        <pc:picChg chg="del">
          <ac:chgData name="Srijan Bojja" userId="9dd9b8128eec74f3" providerId="LiveId" clId="{1FFEEFEF-D932-402B-875C-EA502E1000FD}" dt="2026-09-26T04:06:09.317" v="87" actId="478"/>
          <ac:picMkLst>
            <pc:docMk/>
            <pc:sldMk cId="3840011770" sldId="904"/>
            <ac:picMk id="3" creationId="{4C186624-954B-A0C5-9223-A26A4ED99D5C}"/>
          </ac:picMkLst>
        </pc:picChg>
        <pc:picChg chg="add mod">
          <ac:chgData name="Srijan Bojja" userId="9dd9b8128eec74f3" providerId="LiveId" clId="{1FFEEFEF-D932-402B-875C-EA502E1000FD}" dt="2026-09-26T04:09:55.501" v="104" actId="1076"/>
          <ac:picMkLst>
            <pc:docMk/>
            <pc:sldMk cId="3840011770" sldId="904"/>
            <ac:picMk id="6" creationId="{76D92011-2DB2-58FC-C980-7C6091982369}"/>
          </ac:picMkLst>
        </pc:picChg>
      </pc:sldChg>
      <pc:sldChg chg="addSp delSp modSp add mod">
        <pc:chgData name="Srijan Bojja" userId="9dd9b8128eec74f3" providerId="LiveId" clId="{1FFEEFEF-D932-402B-875C-EA502E1000FD}" dt="2026-09-26T04:09:00.201" v="97" actId="1076"/>
        <pc:sldMkLst>
          <pc:docMk/>
          <pc:sldMk cId="530533575" sldId="905"/>
        </pc:sldMkLst>
        <pc:spChg chg="del">
          <ac:chgData name="Srijan Bojja" userId="9dd9b8128eec74f3" providerId="LiveId" clId="{1FFEEFEF-D932-402B-875C-EA502E1000FD}" dt="2026-09-26T04:00:06.931" v="56" actId="478"/>
          <ac:spMkLst>
            <pc:docMk/>
            <pc:sldMk cId="530533575" sldId="905"/>
            <ac:spMk id="2" creationId="{C93FD7E8-0762-D87B-C3E4-548DFF3B33CD}"/>
          </ac:spMkLst>
        </pc:spChg>
        <pc:spChg chg="del">
          <ac:chgData name="Srijan Bojja" userId="9dd9b8128eec74f3" providerId="LiveId" clId="{1FFEEFEF-D932-402B-875C-EA502E1000FD}" dt="2026-09-26T04:08:29.206" v="92" actId="478"/>
          <ac:spMkLst>
            <pc:docMk/>
            <pc:sldMk cId="530533575" sldId="905"/>
            <ac:spMk id="5" creationId="{F7D6859A-D2A0-A527-1859-F7F3F8C65E52}"/>
          </ac:spMkLst>
        </pc:spChg>
        <pc:picChg chg="add mod">
          <ac:chgData name="Srijan Bojja" userId="9dd9b8128eec74f3" providerId="LiveId" clId="{1FFEEFEF-D932-402B-875C-EA502E1000FD}" dt="2026-09-26T04:09:00.201" v="97" actId="1076"/>
          <ac:picMkLst>
            <pc:docMk/>
            <pc:sldMk cId="530533575" sldId="905"/>
            <ac:picMk id="6" creationId="{BD867B7A-AD27-87F7-EDFC-D8055928B587}"/>
          </ac:picMkLst>
        </pc:picChg>
      </pc:sldChg>
      <pc:sldMasterChg chg="del delSldLayout">
        <pc:chgData name="Srijan Bojja" userId="9dd9b8128eec74f3" providerId="LiveId" clId="{1FFEEFEF-D932-402B-875C-EA502E1000FD}" dt="2026-09-26T04:12:11.437" v="116" actId="2696"/>
        <pc:sldMasterMkLst>
          <pc:docMk/>
          <pc:sldMasterMk cId="2913766455" sldId="2147483660"/>
        </pc:sldMasterMkLst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2080860276" sldId="2147483661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1348298341" sldId="2147483662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2739923019" sldId="2147483663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4071908347" sldId="2147483664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578485704" sldId="2147483665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3733884918" sldId="2147483666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1671886724" sldId="2147483667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4047491787" sldId="2147483668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1046331915" sldId="2147483669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3307584009" sldId="2147483670"/>
          </pc:sldLayoutMkLst>
        </pc:sldLayoutChg>
        <pc:sldLayoutChg chg="del">
          <pc:chgData name="Srijan Bojja" userId="9dd9b8128eec74f3" providerId="LiveId" clId="{1FFEEFEF-D932-402B-875C-EA502E1000FD}" dt="2026-09-26T04:12:11.437" v="116" actId="2696"/>
          <pc:sldLayoutMkLst>
            <pc:docMk/>
            <pc:sldMasterMk cId="2913766455" sldId="2147483660"/>
            <pc:sldLayoutMk cId="4204595472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58870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Pranav Mahajan – 2420030727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B.Srijan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2420030201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Aditya Ram - 2420030383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737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Dr.Navyatha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Ravi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27/08/26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2742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 Incident Management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Project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7B9837-AED8-C8EE-BD0B-FC598521EA5E}"/>
              </a:ext>
            </a:extLst>
          </p:cNvPr>
          <p:cNvSpPr txBox="1"/>
          <p:nvPr/>
        </p:nvSpPr>
        <p:spPr>
          <a:xfrm>
            <a:off x="631596" y="1423447"/>
            <a:ext cx="111330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System Design</a:t>
            </a:r>
          </a:p>
          <a:p>
            <a:r>
              <a:rPr lang="en-IN" dirty="0"/>
              <a:t>➢ The proposed system follows a </a:t>
            </a:r>
            <a:r>
              <a:rPr lang="en-IN" b="1" dirty="0"/>
              <a:t>microservices-based Service-Oriented Architecture</a:t>
            </a:r>
            <a:r>
              <a:rPr lang="en-IN" dirty="0"/>
              <a:t> for independent development, deployment, and maintenance of system components.</a:t>
            </a:r>
          </a:p>
          <a:p>
            <a:r>
              <a:rPr lang="en-IN" dirty="0"/>
              <a:t>➢ The system consists of the following major services: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User/Auth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Incident Management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Service/Team Management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Notification Service</a:t>
            </a:r>
          </a:p>
          <a:p>
            <a:r>
              <a:rPr lang="en-IN" dirty="0"/>
              <a:t>➢ </a:t>
            </a:r>
            <a:r>
              <a:rPr lang="en-IN" b="1" dirty="0"/>
              <a:t>Spring Cloud Gateway</a:t>
            </a:r>
            <a:r>
              <a:rPr lang="en-IN" dirty="0"/>
              <a:t> acts as the single entry point for client requests.</a:t>
            </a:r>
          </a:p>
          <a:p>
            <a:r>
              <a:rPr lang="en-IN" dirty="0"/>
              <a:t>➢ </a:t>
            </a:r>
            <a:r>
              <a:rPr lang="en-IN" b="1" dirty="0"/>
              <a:t>Eureka Service Registry</a:t>
            </a:r>
            <a:r>
              <a:rPr lang="en-IN" dirty="0"/>
              <a:t> enables service discovery and communication between microservices.</a:t>
            </a:r>
          </a:p>
          <a:p>
            <a:r>
              <a:rPr lang="en-IN" dirty="0"/>
              <a:t>➢ Each microservice maintains its own </a:t>
            </a:r>
            <a:r>
              <a:rPr lang="en-IN" b="1" dirty="0"/>
              <a:t>PostgreSQL database</a:t>
            </a:r>
            <a:r>
              <a:rPr lang="en-IN" dirty="0"/>
              <a:t> following the database-per-service approach.</a:t>
            </a:r>
          </a:p>
          <a:p>
            <a:r>
              <a:rPr lang="en-IN" dirty="0"/>
              <a:t>➢ </a:t>
            </a:r>
            <a:r>
              <a:rPr lang="en-IN" b="1" dirty="0"/>
              <a:t>Apache Kafka</a:t>
            </a:r>
            <a:r>
              <a:rPr lang="en-IN" dirty="0"/>
              <a:t> is used for asynchronous event-driven communication between services.</a:t>
            </a:r>
          </a:p>
          <a:p>
            <a:pPr lvl="1"/>
            <a:r>
              <a:rPr lang="en-IN" b="1" dirty="0"/>
              <a:t>Main Workflow</a:t>
            </a:r>
          </a:p>
          <a:p>
            <a:pPr lvl="1"/>
            <a:r>
              <a:rPr lang="en-IN" b="1" dirty="0"/>
              <a:t>User → API Gateway → Microservices → Database</a:t>
            </a:r>
            <a:endParaRPr lang="en-IN" dirty="0"/>
          </a:p>
          <a:p>
            <a:pPr lvl="1"/>
            <a:r>
              <a:rPr lang="en-IN" b="1" dirty="0"/>
              <a:t>Incident Service → Kafka → Notification 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52012E-820A-2E5C-187E-1968CA31D6D5}"/>
              </a:ext>
            </a:extLst>
          </p:cNvPr>
          <p:cNvSpPr txBox="1"/>
          <p:nvPr/>
        </p:nvSpPr>
        <p:spPr>
          <a:xfrm>
            <a:off x="524758" y="1475890"/>
            <a:ext cx="11142483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Architecture Components: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Client / React.js:</a:t>
            </a:r>
            <a:r>
              <a:rPr lang="en-IN" dirty="0"/>
              <a:t> Provides the user interface for incident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API Gateway:</a:t>
            </a:r>
            <a:r>
              <a:rPr lang="en-IN" dirty="0"/>
              <a:t> Routes client requests to the appropriate microservice.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Eureka Server:</a:t>
            </a:r>
            <a:r>
              <a:rPr lang="en-IN" dirty="0"/>
              <a:t> Provides service registration and discovery.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User/Auth Service:</a:t>
            </a:r>
            <a:r>
              <a:rPr lang="en-IN" dirty="0"/>
              <a:t> Manages users, authentication and authorization.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Incident Management Service:</a:t>
            </a:r>
            <a:r>
              <a:rPr lang="en-IN" dirty="0"/>
              <a:t> Creates, assigns, tracks and resolves incidents.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Service/Team Management Service:</a:t>
            </a:r>
            <a:r>
              <a:rPr lang="en-IN" dirty="0"/>
              <a:t> Manages teams and services associated with incidents.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Notification Service:</a:t>
            </a:r>
            <a:r>
              <a:rPr lang="en-IN" dirty="0"/>
              <a:t> Handles notifications generated from incident events.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PostgreSQL:</a:t>
            </a:r>
            <a:r>
              <a:rPr lang="en-IN" dirty="0"/>
              <a:t> Provides independent databases for individual 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Apache Kafka:</a:t>
            </a:r>
            <a:r>
              <a:rPr lang="en-IN" dirty="0"/>
              <a:t> Enables asynchronous communication through incident and notification events.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266F-0C10-39F5-92C4-BBA16A6DF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038FB-BA3B-06D3-ADED-D6AC5C3A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The diagram illustrates the architecture of a DevOps Incident Management System, featuring user interfaces, external systems integration, monitoring tools, alert sources, service registries, and databases, all connected through a network of microservices for incident handling and notifications.&#10;&#10;AI-generated content may be incorrect.">
            <a:extLst>
              <a:ext uri="{FF2B5EF4-FFF2-40B4-BE49-F238E27FC236}">
                <a16:creationId xmlns:a16="http://schemas.microsoft.com/office/drawing/2014/main" id="{BD867B7A-AD27-87F7-EDFC-D8055928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94" y="193250"/>
            <a:ext cx="9707251" cy="64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3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2648931" y="136525"/>
            <a:ext cx="6787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ea typeface="Cambria"/>
                <a:cs typeface="Times New Roman" panose="02020603050405020304" pitchFamily="18" charset="0"/>
              </a:rPr>
              <a:t>Microservices and Database Design</a:t>
            </a:r>
            <a:endParaRPr lang="en-IN" sz="3600" b="1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26BCF9-C607-75D9-9C6A-528F4EFCCA9F}"/>
              </a:ext>
            </a:extLst>
          </p:cNvPr>
          <p:cNvSpPr txBox="1"/>
          <p:nvPr/>
        </p:nvSpPr>
        <p:spPr>
          <a:xfrm>
            <a:off x="838200" y="1336854"/>
            <a:ext cx="49427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Microservices</a:t>
            </a:r>
          </a:p>
          <a:p>
            <a:r>
              <a:rPr lang="en-IN" b="1" dirty="0"/>
              <a:t>User/Auth Service</a:t>
            </a:r>
            <a:endParaRPr lang="en-IN" dirty="0"/>
          </a:p>
          <a:p>
            <a:r>
              <a:rPr lang="en-IN" dirty="0"/>
              <a:t>• User registration and login</a:t>
            </a:r>
            <a:br>
              <a:rPr lang="en-IN" dirty="0"/>
            </a:br>
            <a:r>
              <a:rPr lang="en-IN" dirty="0"/>
              <a:t>• JWT authentication</a:t>
            </a:r>
            <a:br>
              <a:rPr lang="en-IN" dirty="0"/>
            </a:br>
            <a:r>
              <a:rPr lang="en-IN" dirty="0"/>
              <a:t>• Role management</a:t>
            </a:r>
            <a:br>
              <a:rPr lang="en-IN" dirty="0"/>
            </a:br>
            <a:r>
              <a:rPr lang="en-IN" dirty="0"/>
              <a:t>• User authorization</a:t>
            </a:r>
          </a:p>
          <a:p>
            <a:r>
              <a:rPr lang="en-IN" b="1" dirty="0"/>
              <a:t>Incident Management Service</a:t>
            </a:r>
            <a:endParaRPr lang="en-IN" dirty="0"/>
          </a:p>
          <a:p>
            <a:r>
              <a:rPr lang="en-IN" dirty="0"/>
              <a:t>• Incident creation</a:t>
            </a:r>
            <a:br>
              <a:rPr lang="en-IN" dirty="0"/>
            </a:br>
            <a:r>
              <a:rPr lang="en-IN" dirty="0"/>
              <a:t>• Incident assignment</a:t>
            </a:r>
            <a:br>
              <a:rPr lang="en-IN" dirty="0"/>
            </a:br>
            <a:r>
              <a:rPr lang="en-IN" dirty="0"/>
              <a:t>• Severity management</a:t>
            </a:r>
            <a:br>
              <a:rPr lang="en-IN" dirty="0"/>
            </a:br>
            <a:r>
              <a:rPr lang="en-IN" dirty="0"/>
              <a:t>• Status tracking</a:t>
            </a:r>
            <a:br>
              <a:rPr lang="en-IN" dirty="0"/>
            </a:br>
            <a:r>
              <a:rPr lang="en-IN" dirty="0"/>
              <a:t>• Incident resolution</a:t>
            </a:r>
          </a:p>
          <a:p>
            <a:r>
              <a:rPr lang="en-IN" b="1" dirty="0"/>
              <a:t>Service/Team Management Service</a:t>
            </a:r>
            <a:endParaRPr lang="en-IN" dirty="0"/>
          </a:p>
          <a:p>
            <a:r>
              <a:rPr lang="en-IN" dirty="0"/>
              <a:t>• Team management</a:t>
            </a:r>
            <a:br>
              <a:rPr lang="en-IN" dirty="0"/>
            </a:br>
            <a:r>
              <a:rPr lang="en-IN" dirty="0"/>
              <a:t>• Service management</a:t>
            </a:r>
            <a:br>
              <a:rPr lang="en-IN" dirty="0"/>
            </a:br>
            <a:r>
              <a:rPr lang="en-IN" dirty="0"/>
              <a:t>• Team assignment</a:t>
            </a:r>
            <a:br>
              <a:rPr lang="en-IN" dirty="0"/>
            </a:br>
            <a:r>
              <a:rPr lang="en-IN" dirty="0"/>
              <a:t>• Service information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95EC1-C8A6-0544-A3F4-5CC80A69160F}"/>
              </a:ext>
            </a:extLst>
          </p:cNvPr>
          <p:cNvSpPr txBox="1"/>
          <p:nvPr/>
        </p:nvSpPr>
        <p:spPr>
          <a:xfrm>
            <a:off x="6096000" y="1344529"/>
            <a:ext cx="54675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Notification Service</a:t>
            </a:r>
            <a:endParaRPr lang="en-IN" dirty="0"/>
          </a:p>
          <a:p>
            <a:r>
              <a:rPr lang="en-IN" dirty="0"/>
              <a:t>• Notification processing</a:t>
            </a:r>
            <a:br>
              <a:rPr lang="en-IN" dirty="0"/>
            </a:br>
            <a:r>
              <a:rPr lang="en-IN" dirty="0"/>
              <a:t>• Event consumption</a:t>
            </a:r>
            <a:br>
              <a:rPr lang="en-IN" dirty="0"/>
            </a:br>
            <a:r>
              <a:rPr lang="en-IN" dirty="0"/>
              <a:t>• Incident status notifications</a:t>
            </a:r>
          </a:p>
          <a:p>
            <a:r>
              <a:rPr lang="en-IN" b="1" dirty="0"/>
              <a:t>Database Design</a:t>
            </a:r>
          </a:p>
          <a:p>
            <a:r>
              <a:rPr lang="en-IN" dirty="0"/>
              <a:t>➢ Each microservice maintains its own PostgreSQL database.</a:t>
            </a:r>
          </a:p>
          <a:p>
            <a:r>
              <a:rPr lang="en-IN" dirty="0"/>
              <a:t>➢ Services access only their respective databases.</a:t>
            </a:r>
          </a:p>
          <a:p>
            <a:r>
              <a:rPr lang="en-IN" dirty="0"/>
              <a:t>➢ This reduces database-level coupling and allows services to be developed and scaled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1514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 Adopted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297B46-7199-D45F-3140-24566992B4B5}"/>
              </a:ext>
            </a:extLst>
          </p:cNvPr>
          <p:cNvSpPr txBox="1"/>
          <p:nvPr/>
        </p:nvSpPr>
        <p:spPr>
          <a:xfrm>
            <a:off x="606108" y="889843"/>
            <a:ext cx="53893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Development Methodology</a:t>
            </a:r>
          </a:p>
          <a:p>
            <a:r>
              <a:rPr lang="en-IN" dirty="0"/>
              <a:t>➢ The project follows an </a:t>
            </a:r>
            <a:r>
              <a:rPr lang="en-IN" b="1" dirty="0"/>
              <a:t>incremental microservices development approach</a:t>
            </a:r>
            <a:r>
              <a:rPr lang="en-IN" dirty="0"/>
              <a:t>.</a:t>
            </a:r>
          </a:p>
          <a:p>
            <a:r>
              <a:rPr lang="en-IN" b="1" dirty="0"/>
              <a:t>Phase 1 — Requirement Analysis</a:t>
            </a:r>
          </a:p>
          <a:p>
            <a:r>
              <a:rPr lang="en-IN" dirty="0"/>
              <a:t>• Identify users, roles and system requirements</a:t>
            </a:r>
            <a:br>
              <a:rPr lang="en-IN" dirty="0"/>
            </a:br>
            <a:r>
              <a:rPr lang="en-IN" dirty="0"/>
              <a:t>• Define incident lifecycle</a:t>
            </a:r>
            <a:br>
              <a:rPr lang="en-IN" dirty="0"/>
            </a:br>
            <a:r>
              <a:rPr lang="en-IN" dirty="0"/>
              <a:t>• Identify functional and non-functional requirements</a:t>
            </a:r>
          </a:p>
          <a:p>
            <a:r>
              <a:rPr lang="en-IN" b="1" dirty="0"/>
              <a:t>Phase 2 — System Design</a:t>
            </a:r>
          </a:p>
          <a:p>
            <a:r>
              <a:rPr lang="en-IN" dirty="0"/>
              <a:t>• Design microservices architecture</a:t>
            </a:r>
            <a:br>
              <a:rPr lang="en-IN" dirty="0"/>
            </a:br>
            <a:r>
              <a:rPr lang="en-IN" dirty="0"/>
              <a:t>• Define API contracts</a:t>
            </a:r>
            <a:br>
              <a:rPr lang="en-IN" dirty="0"/>
            </a:br>
            <a:r>
              <a:rPr lang="en-IN" dirty="0"/>
              <a:t>• Design database schemas</a:t>
            </a:r>
            <a:br>
              <a:rPr lang="en-IN" dirty="0"/>
            </a:br>
            <a:r>
              <a:rPr lang="en-IN" dirty="0"/>
              <a:t>• Define service communication</a:t>
            </a:r>
          </a:p>
          <a:p>
            <a:r>
              <a:rPr lang="en-IN" b="1" dirty="0"/>
              <a:t>Phase 3 — Implementation</a:t>
            </a:r>
          </a:p>
          <a:p>
            <a:r>
              <a:rPr lang="en-IN" dirty="0"/>
              <a:t>• Develop Spring Boot microservices</a:t>
            </a:r>
            <a:br>
              <a:rPr lang="en-IN" dirty="0"/>
            </a:br>
            <a:r>
              <a:rPr lang="en-IN" dirty="0"/>
              <a:t>• Implement REST APIs</a:t>
            </a:r>
            <a:br>
              <a:rPr lang="en-IN" dirty="0"/>
            </a:br>
            <a:r>
              <a:rPr lang="en-IN" dirty="0"/>
              <a:t>• Implement authentication and authorization</a:t>
            </a:r>
            <a:br>
              <a:rPr lang="en-IN" dirty="0"/>
            </a:br>
            <a:r>
              <a:rPr lang="en-IN" dirty="0"/>
              <a:t>• Develop incident management functionality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C38A1-1E9F-6129-A5FD-614E8E1F58D7}"/>
              </a:ext>
            </a:extLst>
          </p:cNvPr>
          <p:cNvSpPr txBox="1"/>
          <p:nvPr/>
        </p:nvSpPr>
        <p:spPr>
          <a:xfrm>
            <a:off x="6096000" y="886120"/>
            <a:ext cx="56686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Phase 4 — Integration</a:t>
            </a:r>
          </a:p>
          <a:p>
            <a:r>
              <a:rPr lang="en-IN" dirty="0"/>
              <a:t>• Configure API Gateway</a:t>
            </a:r>
            <a:br>
              <a:rPr lang="en-IN" dirty="0"/>
            </a:br>
            <a:r>
              <a:rPr lang="en-IN" dirty="0"/>
              <a:t>• Configure Eureka Service Registry</a:t>
            </a:r>
            <a:br>
              <a:rPr lang="en-IN" dirty="0"/>
            </a:br>
            <a:r>
              <a:rPr lang="en-IN" dirty="0"/>
              <a:t>• Integrate PostgreSQL databases</a:t>
            </a:r>
            <a:br>
              <a:rPr lang="en-IN" dirty="0"/>
            </a:br>
            <a:r>
              <a:rPr lang="en-IN" dirty="0"/>
              <a:t>• Integrate Apache Kafka</a:t>
            </a:r>
          </a:p>
          <a:p>
            <a:r>
              <a:rPr lang="en-IN" b="1" dirty="0"/>
              <a:t>Phase 5 — Testing</a:t>
            </a:r>
          </a:p>
          <a:p>
            <a:r>
              <a:rPr lang="en-IN" dirty="0"/>
              <a:t>• Unit testing</a:t>
            </a:r>
            <a:br>
              <a:rPr lang="en-IN" dirty="0"/>
            </a:br>
            <a:r>
              <a:rPr lang="en-IN" dirty="0"/>
              <a:t>• API testing</a:t>
            </a:r>
            <a:br>
              <a:rPr lang="en-IN" dirty="0"/>
            </a:br>
            <a:r>
              <a:rPr lang="en-IN" dirty="0"/>
              <a:t>• Integration testing</a:t>
            </a:r>
            <a:br>
              <a:rPr lang="en-IN" dirty="0"/>
            </a:br>
            <a:r>
              <a:rPr lang="en-IN" dirty="0"/>
              <a:t>• End-to-end workflow testing</a:t>
            </a:r>
          </a:p>
          <a:p>
            <a:r>
              <a:rPr lang="en-IN" b="1" dirty="0"/>
              <a:t>Phase 6 — Deployment</a:t>
            </a:r>
          </a:p>
          <a:p>
            <a:r>
              <a:rPr lang="en-IN" dirty="0"/>
              <a:t>• Docker containerization</a:t>
            </a:r>
            <a:br>
              <a:rPr lang="en-IN" dirty="0"/>
            </a:br>
            <a:r>
              <a:rPr lang="en-IN" dirty="0"/>
              <a:t>• Kubernetes deployment</a:t>
            </a:r>
            <a:br>
              <a:rPr lang="en-IN" dirty="0"/>
            </a:br>
            <a:r>
              <a:rPr lang="en-IN" dirty="0"/>
              <a:t>• CI/CD pipeline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179766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Technical Soundness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611176-DDED-1515-ED84-3AB34ED34C7F}"/>
              </a:ext>
            </a:extLst>
          </p:cNvPr>
          <p:cNvSpPr txBox="1"/>
          <p:nvPr/>
        </p:nvSpPr>
        <p:spPr>
          <a:xfrm>
            <a:off x="477623" y="1005863"/>
            <a:ext cx="112367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Backend Technologies</a:t>
            </a:r>
          </a:p>
          <a:p>
            <a:r>
              <a:rPr lang="en-IN" dirty="0"/>
              <a:t>➢ </a:t>
            </a:r>
            <a:r>
              <a:rPr lang="en-IN" b="1" dirty="0"/>
              <a:t>Java + Spring Boot</a:t>
            </a:r>
            <a:br>
              <a:rPr lang="en-IN" dirty="0"/>
            </a:br>
            <a:r>
              <a:rPr lang="en-IN" dirty="0"/>
              <a:t>Used for developing independent microservices and REST APIs.</a:t>
            </a:r>
          </a:p>
          <a:p>
            <a:r>
              <a:rPr lang="en-IN" dirty="0"/>
              <a:t>➢ </a:t>
            </a:r>
            <a:r>
              <a:rPr lang="en-IN" b="1" dirty="0"/>
              <a:t>Spring Cloud Gateway</a:t>
            </a:r>
            <a:br>
              <a:rPr lang="en-IN" dirty="0"/>
            </a:br>
            <a:r>
              <a:rPr lang="en-IN" dirty="0"/>
              <a:t>Provides centralized API routing and acts as the entry point for clients.</a:t>
            </a:r>
          </a:p>
          <a:p>
            <a:r>
              <a:rPr lang="en-IN" dirty="0"/>
              <a:t>➢ </a:t>
            </a:r>
            <a:r>
              <a:rPr lang="en-IN" b="1" dirty="0"/>
              <a:t>Eureka Service Registry</a:t>
            </a:r>
            <a:br>
              <a:rPr lang="en-IN" dirty="0"/>
            </a:br>
            <a:r>
              <a:rPr lang="en-IN" dirty="0"/>
              <a:t>Provides dynamic service discovery between microservices.</a:t>
            </a:r>
          </a:p>
          <a:p>
            <a:r>
              <a:rPr lang="en-IN" b="1" dirty="0"/>
              <a:t>Communication</a:t>
            </a:r>
          </a:p>
          <a:p>
            <a:r>
              <a:rPr lang="en-IN" dirty="0"/>
              <a:t>➢ </a:t>
            </a:r>
            <a:r>
              <a:rPr lang="en-IN" b="1" dirty="0"/>
              <a:t>REST APIs</a:t>
            </a:r>
            <a:br>
              <a:rPr lang="en-IN" dirty="0"/>
            </a:br>
            <a:r>
              <a:rPr lang="en-IN" dirty="0"/>
              <a:t>Used for synchronous request-response communication.</a:t>
            </a:r>
          </a:p>
          <a:p>
            <a:r>
              <a:rPr lang="en-IN" dirty="0"/>
              <a:t>➢ </a:t>
            </a:r>
            <a:r>
              <a:rPr lang="en-IN" b="1" dirty="0"/>
              <a:t>Apache Kafka</a:t>
            </a:r>
            <a:br>
              <a:rPr lang="en-IN" dirty="0"/>
            </a:br>
            <a:r>
              <a:rPr lang="en-IN" dirty="0"/>
              <a:t>Used for asynchronous event-driven communication and notification events.</a:t>
            </a:r>
          </a:p>
          <a:p>
            <a:r>
              <a:rPr lang="en-IN" b="1" dirty="0"/>
              <a:t>Database</a:t>
            </a:r>
          </a:p>
          <a:p>
            <a:r>
              <a:rPr lang="en-IN" dirty="0"/>
              <a:t>➢ </a:t>
            </a:r>
            <a:r>
              <a:rPr lang="en-IN" b="1" dirty="0"/>
              <a:t>PostgreSQL</a:t>
            </a:r>
            <a:br>
              <a:rPr lang="en-IN" dirty="0"/>
            </a:br>
            <a:r>
              <a:rPr lang="en-IN" dirty="0"/>
              <a:t>Used for persistent relational data storage.</a:t>
            </a:r>
          </a:p>
          <a:p>
            <a:r>
              <a:rPr lang="en-IN" dirty="0"/>
              <a:t>➢ </a:t>
            </a:r>
            <a:r>
              <a:rPr lang="en-IN" b="1" dirty="0"/>
              <a:t>Database per Service</a:t>
            </a:r>
            <a:br>
              <a:rPr lang="en-IN" dirty="0"/>
            </a:br>
            <a:r>
              <a:rPr lang="en-IN" dirty="0"/>
              <a:t>Maintains service autonomy and reduces database coupling.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390803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Security, Testing and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FF748-6769-199B-514D-36BCADAE4842}"/>
              </a:ext>
            </a:extLst>
          </p:cNvPr>
          <p:cNvSpPr txBox="1"/>
          <p:nvPr/>
        </p:nvSpPr>
        <p:spPr>
          <a:xfrm>
            <a:off x="559324" y="1348033"/>
            <a:ext cx="11133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Security</a:t>
            </a:r>
          </a:p>
          <a:p>
            <a:r>
              <a:rPr lang="en-IN" dirty="0"/>
              <a:t>➢ </a:t>
            </a:r>
            <a:r>
              <a:rPr lang="en-IN" b="1" dirty="0"/>
              <a:t>Spring Security</a:t>
            </a:r>
            <a:r>
              <a:rPr lang="en-IN" dirty="0"/>
              <a:t> provides application-level security.</a:t>
            </a:r>
          </a:p>
          <a:p>
            <a:r>
              <a:rPr lang="en-IN" dirty="0"/>
              <a:t>➢ </a:t>
            </a:r>
            <a:r>
              <a:rPr lang="en-IN" b="1" dirty="0"/>
              <a:t>JWT Authentication</a:t>
            </a:r>
            <a:r>
              <a:rPr lang="en-IN" dirty="0"/>
              <a:t> is used to authenticate users.</a:t>
            </a:r>
          </a:p>
          <a:p>
            <a:r>
              <a:rPr lang="en-IN" dirty="0"/>
              <a:t>➢ </a:t>
            </a:r>
            <a:r>
              <a:rPr lang="en-IN" b="1" dirty="0"/>
              <a:t>Role-Based Access Control (RBAC)</a:t>
            </a:r>
            <a:r>
              <a:rPr lang="en-IN" dirty="0"/>
              <a:t> restricts operations according to user roles.</a:t>
            </a:r>
          </a:p>
          <a:p>
            <a:r>
              <a:rPr lang="en-IN" dirty="0"/>
              <a:t>➢ </a:t>
            </a:r>
            <a:r>
              <a:rPr lang="en-IN" b="1" dirty="0"/>
              <a:t>CORS</a:t>
            </a:r>
            <a:r>
              <a:rPr lang="en-IN" dirty="0"/>
              <a:t> is configured to control cross-origin requests.</a:t>
            </a:r>
          </a:p>
          <a:p>
            <a:r>
              <a:rPr lang="en-IN" b="1" dirty="0"/>
              <a:t>Testing</a:t>
            </a:r>
          </a:p>
          <a:p>
            <a:r>
              <a:rPr lang="en-IN" dirty="0"/>
              <a:t>➢ </a:t>
            </a:r>
            <a:r>
              <a:rPr lang="en-IN" b="1" dirty="0"/>
              <a:t>JUnit</a:t>
            </a:r>
            <a:r>
              <a:rPr lang="en-IN" dirty="0"/>
              <a:t> for unit testing.</a:t>
            </a:r>
          </a:p>
          <a:p>
            <a:r>
              <a:rPr lang="en-IN" dirty="0"/>
              <a:t>➢ </a:t>
            </a:r>
            <a:r>
              <a:rPr lang="en-IN" b="1" dirty="0"/>
              <a:t>Mockito</a:t>
            </a:r>
            <a:r>
              <a:rPr lang="en-IN" dirty="0"/>
              <a:t> for testing service dependencies.</a:t>
            </a:r>
          </a:p>
          <a:p>
            <a:r>
              <a:rPr lang="en-IN" dirty="0"/>
              <a:t>➢ </a:t>
            </a:r>
            <a:r>
              <a:rPr lang="en-IN" b="1" dirty="0"/>
              <a:t>Postman</a:t>
            </a:r>
            <a:r>
              <a:rPr lang="en-IN" dirty="0"/>
              <a:t> for REST API testing.</a:t>
            </a:r>
          </a:p>
          <a:p>
            <a:r>
              <a:rPr lang="en-IN" dirty="0"/>
              <a:t>➢ Integration testing to verify communication between services.</a:t>
            </a:r>
          </a:p>
          <a:p>
            <a:r>
              <a:rPr lang="en-IN" dirty="0"/>
              <a:t>➢ End-to-end testing to verify the complete incident workflow.</a:t>
            </a:r>
          </a:p>
          <a:p>
            <a:r>
              <a:rPr lang="en-IN" b="1" dirty="0"/>
              <a:t>Deployment</a:t>
            </a:r>
          </a:p>
          <a:p>
            <a:r>
              <a:rPr lang="en-IN" dirty="0"/>
              <a:t>➢ </a:t>
            </a:r>
            <a:r>
              <a:rPr lang="en-IN" b="1" dirty="0"/>
              <a:t>Docker</a:t>
            </a:r>
            <a:r>
              <a:rPr lang="en-IN" dirty="0"/>
              <a:t> is used for containerizing services.</a:t>
            </a:r>
          </a:p>
          <a:p>
            <a:r>
              <a:rPr lang="en-IN" dirty="0"/>
              <a:t>➢ </a:t>
            </a:r>
            <a:r>
              <a:rPr lang="en-IN" b="1" dirty="0"/>
              <a:t>Kubernetes/</a:t>
            </a:r>
            <a:r>
              <a:rPr lang="en-IN" b="1" dirty="0" err="1"/>
              <a:t>Minikube</a:t>
            </a:r>
            <a:r>
              <a:rPr lang="en-IN" dirty="0"/>
              <a:t> can be used for container orchestration.</a:t>
            </a:r>
          </a:p>
          <a:p>
            <a:r>
              <a:rPr lang="en-IN" dirty="0"/>
              <a:t>➢ </a:t>
            </a:r>
            <a:r>
              <a:rPr lang="en-IN" b="1" dirty="0"/>
              <a:t>Helm</a:t>
            </a:r>
            <a:r>
              <a:rPr lang="en-IN" dirty="0"/>
              <a:t> can be used for Kubernetes deployment management.</a:t>
            </a:r>
          </a:p>
          <a:p>
            <a:r>
              <a:rPr lang="en-IN" dirty="0"/>
              <a:t>➢ </a:t>
            </a:r>
            <a:r>
              <a:rPr lang="en-IN" b="1" dirty="0"/>
              <a:t>GitHub Actions</a:t>
            </a:r>
            <a:r>
              <a:rPr lang="en-IN" dirty="0"/>
              <a:t> is used for CI/CD automation.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F784-88B8-A2B2-A15A-0FB8A09B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D5CB45-BE24-D476-B8B6-96FCCDD9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The image depicts a multi-step workflow for incident processing, starting with user login and authentication, followed by incident creation, notification, and resolution, including various roles, services, and notifications throughout the process.&#10;&#10;AI-generated content may be incorrect.">
            <a:extLst>
              <a:ext uri="{FF2B5EF4-FFF2-40B4-BE49-F238E27FC236}">
                <a16:creationId xmlns:a16="http://schemas.microsoft.com/office/drawing/2014/main" id="{76D92011-2DB2-58FC-C980-7C609198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69" y="442769"/>
            <a:ext cx="9495585" cy="633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1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771</Words>
  <Application>Microsoft Office PowerPoint</Application>
  <PresentationFormat>Widescreen</PresentationFormat>
  <Paragraphs>104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Srijan Bojja</cp:lastModifiedBy>
  <cp:revision>33</cp:revision>
  <dcterms:created xsi:type="dcterms:W3CDTF">2026-08-08T06:33:56Z</dcterms:created>
  <dcterms:modified xsi:type="dcterms:W3CDTF">2026-09-26T04:12:22Z</dcterms:modified>
</cp:coreProperties>
</file>